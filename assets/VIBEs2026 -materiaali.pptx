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7"/>
  </p:notesMasterIdLst>
  <p:sldIdLst>
    <p:sldId id="256" r:id="rId5"/>
    <p:sldId id="260" r:id="rId6"/>
    <p:sldId id="259" r:id="rId7"/>
    <p:sldId id="261" r:id="rId8"/>
    <p:sldId id="264" r:id="rId9"/>
    <p:sldId id="270" r:id="rId10"/>
    <p:sldId id="266" r:id="rId11"/>
    <p:sldId id="268" r:id="rId12"/>
    <p:sldId id="274" r:id="rId13"/>
    <p:sldId id="269" r:id="rId14"/>
    <p:sldId id="271" r:id="rId15"/>
    <p:sldId id="27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396C98"/>
    <a:srgbClr val="5FCD3B"/>
    <a:srgbClr val="FDF882"/>
    <a:srgbClr val="E57FD6"/>
    <a:srgbClr val="1E2631"/>
    <a:srgbClr val="663300"/>
    <a:srgbClr val="683B24"/>
    <a:srgbClr val="70AD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94"/>
  </p:normalViewPr>
  <p:slideViewPr>
    <p:cSldViewPr snapToGrid="0">
      <p:cViewPr varScale="1">
        <p:scale>
          <a:sx n="45" d="100"/>
          <a:sy n="45" d="100"/>
        </p:scale>
        <p:origin x="11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lätunnisteen paikkamerkki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773138-3DAA-4647-9077-3052EE3598D3}" type="datetimeFigureOut">
              <a:rPr lang="fi-FI" smtClean="0"/>
              <a:t>24.8.2026</a:t>
            </a:fld>
            <a:endParaRPr lang="fi-FI"/>
          </a:p>
        </p:txBody>
      </p:sp>
      <p:sp>
        <p:nvSpPr>
          <p:cNvPr id="4" name="Dian kuvan paikkamerkki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Huomautusten paikkamerkki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FCB848-1AED-9C4E-A92E-CB5A4FB3E9C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82970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148A-1259-0945-951F-C0AEE1A30F12}" type="datetimeFigureOut">
              <a:rPr lang="fi-FI" smtClean="0"/>
              <a:t>24.8.2026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86A5-66DB-224D-953A-548586F8300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078333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148A-1259-0945-951F-C0AEE1A30F12}" type="datetimeFigureOut">
              <a:rPr lang="fi-FI" smtClean="0"/>
              <a:t>24.8.2026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86A5-66DB-224D-953A-548586F8300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86456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148A-1259-0945-951F-C0AEE1A30F12}" type="datetimeFigureOut">
              <a:rPr lang="fi-FI" smtClean="0"/>
              <a:t>24.8.2026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86A5-66DB-224D-953A-548586F8300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63340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148A-1259-0945-951F-C0AEE1A30F12}" type="datetimeFigureOut">
              <a:rPr lang="fi-FI" smtClean="0"/>
              <a:t>24.8.2026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86A5-66DB-224D-953A-548586F8300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600976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148A-1259-0945-951F-C0AEE1A30F12}" type="datetimeFigureOut">
              <a:rPr lang="fi-FI" smtClean="0"/>
              <a:t>24.8.2026</a:t>
            </a:fld>
            <a:endParaRPr lang="fi-F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86A5-66DB-224D-953A-548586F8300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683605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148A-1259-0945-951F-C0AEE1A30F12}" type="datetimeFigureOut">
              <a:rPr lang="fi-FI" smtClean="0"/>
              <a:t>24.8.2026</a:t>
            </a:fld>
            <a:endParaRPr lang="fi-F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86A5-66DB-224D-953A-548586F8300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500857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148A-1259-0945-951F-C0AEE1A30F12}" type="datetimeFigureOut">
              <a:rPr lang="fi-FI" smtClean="0"/>
              <a:t>24.8.2026</a:t>
            </a:fld>
            <a:endParaRPr lang="fi-F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86A5-66DB-224D-953A-548586F8300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865208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148A-1259-0945-951F-C0AEE1A30F12}" type="datetimeFigureOut">
              <a:rPr lang="fi-FI" smtClean="0"/>
              <a:t>24.8.2026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86A5-66DB-224D-953A-548586F8300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12274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Lisää kuva napsauttamalla kuvaketta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148A-1259-0945-951F-C0AEE1A30F12}" type="datetimeFigureOut">
              <a:rPr lang="fi-FI" smtClean="0"/>
              <a:t>24.8.2026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86A5-66DB-224D-953A-548586F8300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092881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148A-1259-0945-951F-C0AEE1A30F12}" type="datetimeFigureOut">
              <a:rPr lang="fi-FI" smtClean="0"/>
              <a:t>24.8.2026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86A5-66DB-224D-953A-548586F8300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731431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148A-1259-0945-951F-C0AEE1A30F12}" type="datetimeFigureOut">
              <a:rPr lang="fi-FI" smtClean="0"/>
              <a:t>24.8.2026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86A5-66DB-224D-953A-548586F8300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505460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19148A-1259-0945-951F-C0AEE1A30F12}" type="datetimeFigureOut">
              <a:rPr lang="fi-FI" smtClean="0"/>
              <a:t>24.8.2026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3D86A5-66DB-224D-953A-548586F8300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820548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3" Type="http://schemas.openxmlformats.org/officeDocument/2006/relationships/image" Target="../media/image11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24" Type="http://schemas.openxmlformats.org/officeDocument/2006/relationships/image" Target="../media/image32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10" Type="http://schemas.openxmlformats.org/officeDocument/2006/relationships/image" Target="../media/image18.sv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image" Target="../media/image22.png"/><Relationship Id="rId22" Type="http://schemas.openxmlformats.org/officeDocument/2006/relationships/image" Target="../media/image30.png"/><Relationship Id="rId27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Kuva 5">
            <a:extLst>
              <a:ext uri="{FF2B5EF4-FFF2-40B4-BE49-F238E27FC236}">
                <a16:creationId xmlns:a16="http://schemas.microsoft.com/office/drawing/2014/main" id="{86037973-82B5-B1A0-AF3F-1DD6105D114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0" y="-1"/>
            <a:ext cx="12191980" cy="6857999"/>
          </a:xfrm>
          <a:prstGeom prst="rect">
            <a:avLst/>
          </a:prstGeom>
        </p:spPr>
      </p:pic>
      <p:sp>
        <p:nvSpPr>
          <p:cNvPr id="2" name="Otsikko 1">
            <a:extLst>
              <a:ext uri="{FF2B5EF4-FFF2-40B4-BE49-F238E27FC236}">
                <a16:creationId xmlns:a16="http://schemas.microsoft.com/office/drawing/2014/main" id="{187B2BB5-6610-FE44-461C-29E8DD1009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 fontScale="90000"/>
          </a:bodyPr>
          <a:lstStyle/>
          <a:p>
            <a:br>
              <a:rPr lang="fi-FI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Alasassy Caps" pitchFamily="2" charset="0"/>
                <a:cs typeface="Alasassy Caps" panose="020F0502020204030204" pitchFamily="34" charset="0"/>
              </a:rPr>
            </a:br>
            <a:r>
              <a:rPr lang="fi-FI" sz="13800" b="1" dirty="0" err="1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Alasassy Caps" pitchFamily="2" charset="0"/>
                <a:cs typeface="Alasassy Caps" panose="020F0502020204030204" pitchFamily="34" charset="0"/>
              </a:rPr>
              <a:t>VIBeS</a:t>
            </a:r>
            <a:r>
              <a:rPr lang="fi-FI" sz="13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Alasassy Caps" pitchFamily="2" charset="0"/>
                <a:cs typeface="Alasassy Caps" panose="020F0502020204030204" pitchFamily="34" charset="0"/>
              </a:rPr>
              <a:t> –projekti </a:t>
            </a:r>
            <a:endParaRPr lang="fi-FI" b="1" dirty="0">
              <a:ln w="22225">
                <a:solidFill>
                  <a:schemeClr val="tx1"/>
                </a:solidFill>
                <a:miter lim="800000"/>
              </a:ln>
              <a:solidFill>
                <a:srgbClr val="FFFFFF"/>
              </a:solidFill>
              <a:latin typeface="Alasassy Caps" pitchFamily="2" charset="0"/>
              <a:cs typeface="Alasassy Caps" panose="020F0502020204030204" pitchFamily="34" charset="0"/>
            </a:endParaRP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0FE34135-D4BD-8029-B47B-956D1524E4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46847"/>
            <a:ext cx="9144000" cy="1098395"/>
          </a:xfrm>
        </p:spPr>
        <p:txBody>
          <a:bodyPr>
            <a:normAutofit/>
          </a:bodyPr>
          <a:lstStyle/>
          <a:p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Mielenterveyttä tukevaa toimintaa Oulun seudun nuorille </a:t>
            </a:r>
          </a:p>
          <a:p>
            <a:endParaRPr lang="fi-FI" dirty="0">
              <a:solidFill>
                <a:srgbClr val="FFFFFF"/>
              </a:solidFill>
            </a:endParaRPr>
          </a:p>
        </p:txBody>
      </p:sp>
      <p:pic>
        <p:nvPicPr>
          <p:cNvPr id="8" name="Kuva 7">
            <a:extLst>
              <a:ext uri="{FF2B5EF4-FFF2-40B4-BE49-F238E27FC236}">
                <a16:creationId xmlns:a16="http://schemas.microsoft.com/office/drawing/2014/main" id="{E816698A-C1F3-3A77-9BAA-1C11B91F9038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9694606" y="151862"/>
            <a:ext cx="2302783" cy="102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195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uva 1">
            <a:extLst>
              <a:ext uri="{FF2B5EF4-FFF2-40B4-BE49-F238E27FC236}">
                <a16:creationId xmlns:a16="http://schemas.microsoft.com/office/drawing/2014/main" id="{C28F54B8-CBE3-1442-7285-5043849BEB1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4687" r="11044"/>
          <a:stretch>
            <a:fillRect/>
          </a:stretch>
        </p:blipFill>
        <p:spPr>
          <a:xfrm rot="16200000">
            <a:off x="2667001" y="-2667000"/>
            <a:ext cx="6857999" cy="12192000"/>
          </a:xfrm>
          <a:prstGeom prst="rect">
            <a:avLst/>
          </a:prstGeom>
        </p:spPr>
      </p:pic>
      <p:sp>
        <p:nvSpPr>
          <p:cNvPr id="6" name="Otsikko 1">
            <a:extLst>
              <a:ext uri="{FF2B5EF4-FFF2-40B4-BE49-F238E27FC236}">
                <a16:creationId xmlns:a16="http://schemas.microsoft.com/office/drawing/2014/main" id="{F4DBB547-2D65-F418-9E4E-5BC37523E285}"/>
              </a:ext>
            </a:extLst>
          </p:cNvPr>
          <p:cNvSpPr txBox="1">
            <a:spLocks/>
          </p:cNvSpPr>
          <p:nvPr/>
        </p:nvSpPr>
        <p:spPr>
          <a:xfrm>
            <a:off x="2318796" y="613742"/>
            <a:ext cx="7772401" cy="4726276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i-FI" sz="80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lasassy Caps" pitchFamily="2" charset="0"/>
              </a:rPr>
              <a:t>’</a:t>
            </a:r>
            <a:r>
              <a:rPr lang="fi-FI" sz="8000" b="1" i="1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lasassy Caps" pitchFamily="2" charset="0"/>
              </a:rPr>
              <a:t>’ALL </a:t>
            </a:r>
            <a:r>
              <a:rPr lang="fi-FI" sz="8000" b="1" i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lasassy Caps" pitchFamily="2" charset="0"/>
              </a:rPr>
              <a:t>vibe</a:t>
            </a:r>
            <a:r>
              <a:rPr lang="fi-FI" sz="6000" b="1" i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lasassy Caps" pitchFamily="2" charset="0"/>
              </a:rPr>
              <a:t>S</a:t>
            </a:r>
            <a:r>
              <a:rPr lang="fi-FI" sz="8000" b="1" i="1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lasassy Caps" pitchFamily="2" charset="0"/>
              </a:rPr>
              <a:t> </a:t>
            </a:r>
            <a:r>
              <a:rPr lang="fi-FI" sz="8000" b="1" i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lasassy Caps" pitchFamily="2" charset="0"/>
              </a:rPr>
              <a:t>oK</a:t>
            </a:r>
            <a:r>
              <a:rPr lang="fi-FI" sz="8000" b="1" i="1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lasassy Caps" pitchFamily="2" charset="0"/>
              </a:rPr>
              <a:t>’’</a:t>
            </a:r>
          </a:p>
        </p:txBody>
      </p:sp>
      <p:sp>
        <p:nvSpPr>
          <p:cNvPr id="11" name="Tekstiruutu 10">
            <a:extLst>
              <a:ext uri="{FF2B5EF4-FFF2-40B4-BE49-F238E27FC236}">
                <a16:creationId xmlns:a16="http://schemas.microsoft.com/office/drawing/2014/main" id="{B19EB3C8-5BAD-B100-1B6A-B24C7A143DF2}"/>
              </a:ext>
            </a:extLst>
          </p:cNvPr>
          <p:cNvSpPr txBox="1"/>
          <p:nvPr/>
        </p:nvSpPr>
        <p:spPr>
          <a:xfrm>
            <a:off x="2145272" y="2168108"/>
            <a:ext cx="811944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i-FI" sz="2000" b="1" i="0" u="none" strike="noStrike" dirty="0">
                <a:solidFill>
                  <a:srgbClr val="1E263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Nuorten mielenterveyttä edistävä </a:t>
            </a:r>
            <a:r>
              <a:rPr lang="fi-FI" sz="2000" b="1" i="0" u="none" strike="noStrike" dirty="0" err="1">
                <a:solidFill>
                  <a:srgbClr val="1E263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VIBEs</a:t>
            </a:r>
            <a:r>
              <a:rPr lang="fi-FI" sz="2000" b="1" i="0" u="none" strike="noStrike" dirty="0">
                <a:solidFill>
                  <a:srgbClr val="1E263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-projekti on saanut nimensä sekä sanaleikkinä että syvällisenä viestinä. Sana </a:t>
            </a:r>
            <a:r>
              <a:rPr lang="fi-FI" sz="2000" b="1" i="1" u="none" strike="noStrike" dirty="0" err="1">
                <a:solidFill>
                  <a:srgbClr val="1E263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vibes</a:t>
            </a:r>
            <a:r>
              <a:rPr lang="fi-FI" sz="2000" b="1" i="0" u="none" strike="noStrike" dirty="0">
                <a:solidFill>
                  <a:srgbClr val="1E263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 viittaa englanniksi tunnelmaan tai fiilikseen – ja juuri siitä projektissa on kyse: positiivisten, kannattelevien ja toivoa herättävien "</a:t>
            </a:r>
            <a:r>
              <a:rPr lang="fi-FI" sz="2000" b="1" i="0" u="none" strike="noStrike" dirty="0" err="1">
                <a:solidFill>
                  <a:srgbClr val="1E263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vibojen</a:t>
            </a:r>
            <a:r>
              <a:rPr lang="fi-FI" sz="2000" b="1" i="0" u="none" strike="noStrike" dirty="0">
                <a:solidFill>
                  <a:srgbClr val="1E263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" luomisesta nuorten arkeen.</a:t>
            </a:r>
          </a:p>
          <a:p>
            <a:pPr algn="ctr"/>
            <a:endParaRPr lang="fi-FI" sz="2000" b="1" dirty="0">
              <a:solidFill>
                <a:srgbClr val="1E263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fi-FI" sz="2000" b="1" i="0" u="none" strike="noStrike" dirty="0">
                <a:solidFill>
                  <a:srgbClr val="1E263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Se on vastalause ’’</a:t>
            </a:r>
            <a:r>
              <a:rPr lang="fi-FI" sz="2000" b="1" i="0" u="none" strike="noStrike" dirty="0" err="1">
                <a:solidFill>
                  <a:srgbClr val="1E263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good</a:t>
            </a:r>
            <a:r>
              <a:rPr lang="fi-FI" sz="2000" b="1" i="0" u="none" strike="noStrike" dirty="0">
                <a:solidFill>
                  <a:srgbClr val="1E263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b="1" i="0" u="none" strike="noStrike" dirty="0" err="1">
                <a:solidFill>
                  <a:srgbClr val="1E263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vibes</a:t>
            </a:r>
            <a:r>
              <a:rPr lang="fi-FI" sz="2000" b="1" i="0" u="none" strike="noStrike" dirty="0">
                <a:solidFill>
                  <a:srgbClr val="1E263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b="1" i="0" u="none" strike="noStrike" dirty="0" err="1">
                <a:solidFill>
                  <a:srgbClr val="1E263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only</a:t>
            </a:r>
            <a:r>
              <a:rPr lang="fi-FI" sz="2000" b="1" dirty="0">
                <a:solidFill>
                  <a:srgbClr val="1E263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’’ –ideologialle, koska kun keskustellaan mielenterveydestä on otettava huomioon, että kaikki erilaiset tunteet ovat sallittuja ja niistä tulee pystyä puhumaan avoimesti. Erilaisiin </a:t>
            </a:r>
            <a:r>
              <a:rPr lang="fi-FI" sz="2000" b="1" dirty="0" err="1">
                <a:solidFill>
                  <a:srgbClr val="1E263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viboihin</a:t>
            </a:r>
            <a:r>
              <a:rPr lang="fi-FI" sz="2000" b="1" dirty="0">
                <a:solidFill>
                  <a:srgbClr val="1E263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voi auttaa eri toimet - johonkin liikunta,  toiseen kulttuuri ja joskus keho vaatii vain rauhoittumista ja itsensä hemmottelua.</a:t>
            </a:r>
          </a:p>
        </p:txBody>
      </p:sp>
      <p:pic>
        <p:nvPicPr>
          <p:cNvPr id="5" name="Kuva 4">
            <a:extLst>
              <a:ext uri="{FF2B5EF4-FFF2-40B4-BE49-F238E27FC236}">
                <a16:creationId xmlns:a16="http://schemas.microsoft.com/office/drawing/2014/main" id="{49781FE4-DA42-663A-F9D7-4DE5C9C04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30910">
            <a:off x="9168451" y="-228449"/>
            <a:ext cx="3437430" cy="343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44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uva 5">
            <a:extLst>
              <a:ext uri="{FF2B5EF4-FFF2-40B4-BE49-F238E27FC236}">
                <a16:creationId xmlns:a16="http://schemas.microsoft.com/office/drawing/2014/main" id="{6A833151-7A92-6162-8800-0EA013ACE73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4687" r="11044"/>
          <a:stretch>
            <a:fillRect/>
          </a:stretch>
        </p:blipFill>
        <p:spPr>
          <a:xfrm rot="16200000">
            <a:off x="2667000" y="-2667000"/>
            <a:ext cx="6857999" cy="12192000"/>
          </a:xfrm>
          <a:prstGeom prst="rect">
            <a:avLst/>
          </a:prstGeom>
        </p:spPr>
      </p:pic>
      <p:sp>
        <p:nvSpPr>
          <p:cNvPr id="2" name="Otsikko 1">
            <a:extLst>
              <a:ext uri="{FF2B5EF4-FFF2-40B4-BE49-F238E27FC236}">
                <a16:creationId xmlns:a16="http://schemas.microsoft.com/office/drawing/2014/main" id="{60FD6ACF-FAFA-D448-2373-8AD96D4C4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2453" y="1847915"/>
            <a:ext cx="4962161" cy="4726276"/>
          </a:xfrm>
        </p:spPr>
        <p:txBody>
          <a:bodyPr>
            <a:normAutofit/>
          </a:bodyPr>
          <a:lstStyle/>
          <a:p>
            <a:pPr algn="r"/>
            <a:r>
              <a:rPr lang="fi-FI" sz="8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lasassy Caps" pitchFamily="2" charset="0"/>
              </a:rPr>
              <a:t>Projektin keskeiset tavoitteet: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A4C6A107-BE88-114F-C37D-B69EB78C2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6360" y="457200"/>
            <a:ext cx="6537960" cy="6019800"/>
          </a:xfrm>
        </p:spPr>
        <p:txBody>
          <a:bodyPr anchor="ctr">
            <a:normAutofit fontScale="85000" lnSpcReduction="10000"/>
          </a:bodyPr>
          <a:lstStyle/>
          <a:p>
            <a:pPr marL="0" indent="0">
              <a:buNone/>
            </a:pPr>
            <a:endParaRPr lang="fi-FI" sz="2000" b="0" i="0" u="none" strike="noStrike" dirty="0">
              <a:solidFill>
                <a:srgbClr val="FFFFFF"/>
              </a:solidFill>
              <a:effectLst/>
              <a:latin typeface="Avenir Next Condensed" panose="020B0506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fi-FI" sz="2000" b="1" i="0" u="none" strike="noStrike" dirty="0"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Pitkien jonojen ongelmat</a:t>
            </a:r>
            <a:r>
              <a:rPr lang="fi-FI" sz="2000" b="0" i="0" u="none" strike="noStrike" dirty="0"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Vähentää pitkien jonojen vaikutusta mielenterveyspalveluissa tarjoamalla nopeammin saavutettavia tukitoimia ja matalan kynnyksen palveluja nuorille. Tavoitteena on varmistaa, että nuoret saavat jonkin asteista tukea tarvittaessa jo ennen mielenterveyspalveluihin hakeutumista.</a:t>
            </a:r>
          </a:p>
          <a:p>
            <a:pPr>
              <a:buFont typeface="+mj-lt"/>
              <a:buAutoNum type="arabicPeriod"/>
            </a:pPr>
            <a:r>
              <a:rPr lang="fi-FI" sz="2000" b="1" i="0" u="none" strike="noStrike" dirty="0"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Nivelvaiheessa olevien nuorten tuki</a:t>
            </a:r>
            <a:r>
              <a:rPr lang="fi-FI" sz="2000" b="0" i="0" u="none" strike="noStrike" dirty="0"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Tukea erityisesti niitä nuoria, jotka ovat elämänsä siirtymävaiheessa (esimerkiksi peruskoulusta toiselle asteelle siirtymä), ja estää syrjäytymisen riskiä tarjoamalla suoraa tukea, tekemistä ja uusia verkostoja.</a:t>
            </a:r>
          </a:p>
          <a:p>
            <a:pPr>
              <a:buFont typeface="+mj-lt"/>
              <a:buAutoNum type="arabicPeriod"/>
            </a:pPr>
            <a:r>
              <a:rPr lang="fi-FI" sz="2000" b="1" i="0" u="none" strike="noStrike" dirty="0"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Matalan kynnyksen toiminta</a:t>
            </a:r>
            <a:r>
              <a:rPr lang="fi-FI" sz="2000" b="0" i="0" u="none" strike="noStrike" dirty="0"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Tarjota nuorille mahdollisuus osallistua helposti saavutettaviin, matalan kynnyksen mielenterveystyökaluihin ja aktiviteetteihin Oulun alueella. </a:t>
            </a:r>
          </a:p>
          <a:p>
            <a:pPr>
              <a:buFont typeface="+mj-lt"/>
              <a:buAutoNum type="arabicPeriod"/>
            </a:pPr>
            <a:r>
              <a:rPr lang="fi-FI" sz="2000" b="1" i="0" u="none" strike="noStrike" dirty="0"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Vaihtoehdot mielenterveyden tukemiseen</a:t>
            </a:r>
            <a:r>
              <a:rPr lang="fi-FI" sz="2000" b="0" i="0" u="none" strike="noStrike" dirty="0"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Tuoda nuorille esille erilaisia vaihtoehtoja ja tukiverkostoja mielenterveyden edistämiseksi, kuten liikunta, kulttuuriaktiviteetit ja kehonhuolto, jotka voivat toimia tärkeinä tukimuotoina terveydenhuollon ulkopuolella.</a:t>
            </a:r>
          </a:p>
          <a:p>
            <a:pPr>
              <a:buFont typeface="+mj-lt"/>
              <a:buAutoNum type="arabicPeriod"/>
            </a:pPr>
            <a:r>
              <a:rPr lang="fi-FI" sz="2000" b="1" i="0" u="none" strike="noStrike" dirty="0"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Yritykset mukaan nuorten mielenterveystyöhön</a:t>
            </a:r>
            <a:r>
              <a:rPr lang="fi-FI" sz="2000" b="0" i="0" u="none" strike="noStrike" dirty="0"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fi-FI" sz="2000" b="0" i="0" u="none" strike="noStrike" dirty="0" err="1"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Osallistaa</a:t>
            </a:r>
            <a:r>
              <a:rPr lang="fi-FI" sz="2000" b="0" i="0" u="none" strike="noStrike" dirty="0"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Oulun alueen yrityksiä mukaan mielenterveystyöhön tarjoamalla nuorille kokeiluun heille sopivia palveluita.</a:t>
            </a:r>
            <a:endParaRPr lang="fi-FI" sz="2000" dirty="0">
              <a:solidFill>
                <a:srgbClr val="FFFFF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Kuva 6">
            <a:extLst>
              <a:ext uri="{FF2B5EF4-FFF2-40B4-BE49-F238E27FC236}">
                <a16:creationId xmlns:a16="http://schemas.microsoft.com/office/drawing/2014/main" id="{FEC34647-1195-776A-36A3-A2C3DC788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71421">
            <a:off x="-428895" y="-204537"/>
            <a:ext cx="3273879" cy="327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2990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6C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orakulmio: Pyöristetyt kulmat 4">
            <a:extLst>
              <a:ext uri="{FF2B5EF4-FFF2-40B4-BE49-F238E27FC236}">
                <a16:creationId xmlns:a16="http://schemas.microsoft.com/office/drawing/2014/main" id="{C772FBD1-FEF2-4C51-5C45-88E544D0743E}"/>
              </a:ext>
            </a:extLst>
          </p:cNvPr>
          <p:cNvSpPr/>
          <p:nvPr/>
        </p:nvSpPr>
        <p:spPr>
          <a:xfrm rot="610150">
            <a:off x="6833072" y="110414"/>
            <a:ext cx="3490865" cy="648404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7" name="Tekstiruutu 6">
            <a:extLst>
              <a:ext uri="{FF2B5EF4-FFF2-40B4-BE49-F238E27FC236}">
                <a16:creationId xmlns:a16="http://schemas.microsoft.com/office/drawing/2014/main" id="{A5FEFE3E-89F3-AB20-285F-875C58EEF23B}"/>
              </a:ext>
            </a:extLst>
          </p:cNvPr>
          <p:cNvSpPr txBox="1"/>
          <p:nvPr/>
        </p:nvSpPr>
        <p:spPr>
          <a:xfrm>
            <a:off x="502920" y="485358"/>
            <a:ext cx="6217920" cy="621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9900" b="1" dirty="0" err="1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377346" dist="38100" dir="18900000" sx="114000" sy="114000" algn="bl" rotWithShape="0">
                    <a:prstClr val="black">
                      <a:alpha val="34000"/>
                    </a:prstClr>
                  </a:outerShdw>
                </a:effectLst>
                <a:latin typeface="Alasassy Caps" pitchFamily="2" charset="0"/>
                <a:ea typeface="Verdana" panose="020B0604030504040204" pitchFamily="34" charset="0"/>
                <a:cs typeface="Verdana" panose="020B0604030504040204" pitchFamily="34" charset="0"/>
              </a:rPr>
              <a:t>VIBe</a:t>
            </a:r>
            <a:r>
              <a:rPr lang="fi-FI" sz="16600" b="1" dirty="0" err="1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377346" dist="38100" dir="18900000" sx="114000" sy="114000" algn="bl" rotWithShape="0">
                    <a:prstClr val="black">
                      <a:alpha val="34000"/>
                    </a:prstClr>
                  </a:outerShdw>
                </a:effectLst>
                <a:latin typeface="Alasassy Caps" pitchFamily="2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fi-FI" sz="19900" b="1" dirty="0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377346" dist="38100" dir="18900000" sx="114000" sy="114000" algn="bl" rotWithShape="0">
                    <a:prstClr val="black">
                      <a:alpha val="34000"/>
                    </a:prstClr>
                  </a:outerShdw>
                </a:effectLst>
                <a:latin typeface="Alasassy Caps" pitchFamily="2" charset="0"/>
              </a:rPr>
              <a:t> </a:t>
            </a:r>
          </a:p>
          <a:p>
            <a:r>
              <a:rPr lang="fi-FI" sz="19900" b="1" dirty="0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377346" dist="38100" dir="18900000" sx="114000" sy="114000" algn="bl" rotWithShape="0">
                    <a:prstClr val="black">
                      <a:alpha val="34000"/>
                    </a:prstClr>
                  </a:outerShdw>
                </a:effectLst>
                <a:latin typeface="Alasassy Caps" pitchFamily="2" charset="0"/>
              </a:rPr>
              <a:t>-passi</a:t>
            </a:r>
            <a:endParaRPr lang="fi-FI" sz="19900" b="1" dirty="0">
              <a:ln w="28575">
                <a:solidFill>
                  <a:schemeClr val="bg1"/>
                </a:solidFill>
                <a:prstDash val="solid"/>
              </a:ln>
              <a:effectLst>
                <a:outerShdw blurRad="377346" dist="38100" dir="18900000" sx="114000" sy="114000" algn="bl" rotWithShape="0">
                  <a:prstClr val="black">
                    <a:alpha val="34000"/>
                  </a:prstClr>
                </a:outerShdw>
              </a:effectLst>
            </a:endParaRPr>
          </a:p>
        </p:txBody>
      </p:sp>
      <p:pic>
        <p:nvPicPr>
          <p:cNvPr id="2" name="Kuva 1">
            <a:extLst>
              <a:ext uri="{FF2B5EF4-FFF2-40B4-BE49-F238E27FC236}">
                <a16:creationId xmlns:a16="http://schemas.microsoft.com/office/drawing/2014/main" id="{89131FBE-B063-1CDF-1527-B49D69C86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49669">
            <a:off x="7265860" y="671598"/>
            <a:ext cx="2777684" cy="4900411"/>
          </a:xfrm>
          <a:prstGeom prst="rect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6" name="Ellipsi 5">
            <a:extLst>
              <a:ext uri="{FF2B5EF4-FFF2-40B4-BE49-F238E27FC236}">
                <a16:creationId xmlns:a16="http://schemas.microsoft.com/office/drawing/2014/main" id="{E1BCBF80-354D-E6C0-5837-864856CA6AFE}"/>
              </a:ext>
            </a:extLst>
          </p:cNvPr>
          <p:cNvSpPr/>
          <p:nvPr/>
        </p:nvSpPr>
        <p:spPr>
          <a:xfrm>
            <a:off x="7793574" y="5691836"/>
            <a:ext cx="610197" cy="62187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8" name="Ellipsi 7">
            <a:extLst>
              <a:ext uri="{FF2B5EF4-FFF2-40B4-BE49-F238E27FC236}">
                <a16:creationId xmlns:a16="http://schemas.microsoft.com/office/drawing/2014/main" id="{469A2699-8CD0-160A-6602-AD1EA0BE658B}"/>
              </a:ext>
            </a:extLst>
          </p:cNvPr>
          <p:cNvSpPr/>
          <p:nvPr/>
        </p:nvSpPr>
        <p:spPr>
          <a:xfrm rot="592088">
            <a:off x="8683502" y="403380"/>
            <a:ext cx="968269" cy="4571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71982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uva 4">
            <a:extLst>
              <a:ext uri="{FF2B5EF4-FFF2-40B4-BE49-F238E27FC236}">
                <a16:creationId xmlns:a16="http://schemas.microsoft.com/office/drawing/2014/main" id="{4C1E5A4A-827F-B613-6BEE-DB22BB8843B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4687" r="11044"/>
          <a:stretch>
            <a:fillRect/>
          </a:stretch>
        </p:blipFill>
        <p:spPr>
          <a:xfrm rot="16200000">
            <a:off x="2667001" y="-2667000"/>
            <a:ext cx="6857999" cy="12192000"/>
          </a:xfrm>
          <a:prstGeom prst="rect">
            <a:avLst/>
          </a:prstGeom>
        </p:spPr>
      </p:pic>
      <p:sp>
        <p:nvSpPr>
          <p:cNvPr id="2" name="Otsikko 1">
            <a:extLst>
              <a:ext uri="{FF2B5EF4-FFF2-40B4-BE49-F238E27FC236}">
                <a16:creationId xmlns:a16="http://schemas.microsoft.com/office/drawing/2014/main" id="{B08A4A83-1F30-C495-B95F-6DBA05DED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969" y="314802"/>
            <a:ext cx="10515600" cy="1325563"/>
          </a:xfrm>
        </p:spPr>
        <p:txBody>
          <a:bodyPr>
            <a:normAutofit/>
          </a:bodyPr>
          <a:lstStyle/>
          <a:p>
            <a:r>
              <a:rPr lang="fi-FI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1E263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lasassy Caps" pitchFamily="2" charset="0"/>
              </a:rPr>
              <a:t>Passin toimintaperiaate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A7C2F876-B34A-82AB-9037-2BF733772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969" y="1450976"/>
            <a:ext cx="10515600" cy="4933632"/>
          </a:xfrm>
          <a:solidFill>
            <a:srgbClr val="FFFFFF">
              <a:alpha val="60000"/>
            </a:srgbClr>
          </a:solidFill>
          <a:ln>
            <a:noFill/>
          </a:ln>
        </p:spPr>
        <p:txBody>
          <a:bodyPr>
            <a:normAutofit fontScale="92500" lnSpcReduction="10000"/>
          </a:bodyPr>
          <a:lstStyle/>
          <a:p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VIBEs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–passi jaetaan syksyllä 2026 kaikille pilottikoulun 9. luokkalaisille sekä 1. vuosikurssin opiskelijoille.</a:t>
            </a:r>
          </a:p>
          <a:p>
            <a:pPr lvl="1"/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Mukana pilotissa: 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Tuiran koulu, Oulun Kansainvälinen koulu, OSAO Kempele sekä Oulun suomalaisen yhteiskoulun lukio.</a:t>
            </a:r>
          </a:p>
          <a:p>
            <a:pPr lvl="1"/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Passia voi käyttää suomeksi tai englanniksi.</a:t>
            </a:r>
          </a:p>
          <a:p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Passissa on sekä rajattomasti käytettäviä palveluita (mm. kootusti Oulun kaupungin liikuntapalveluita), nuorille tarjottuja tarjouksia sekä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VIBEs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–koodilla lunastettavia ilmaisia palveluita.</a:t>
            </a:r>
          </a:p>
          <a:p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Koodilla nuori pääsee kokeilemaan neljää (4) valitsemaansa yhteistyökumppanien tarjoamaa hyvinvointipalvelua ilmaiseksi vuoden 2026 aikana. </a:t>
            </a:r>
          </a:p>
          <a:p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Passissa on palveluita kolmessa eri kategoriassa: </a:t>
            </a:r>
            <a:r>
              <a:rPr lang="fi-FI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Kulttuuri, Liikunta ja Hyvinvointi.</a:t>
            </a:r>
          </a:p>
        </p:txBody>
      </p:sp>
      <p:pic>
        <p:nvPicPr>
          <p:cNvPr id="6" name="Kuva 5">
            <a:extLst>
              <a:ext uri="{FF2B5EF4-FFF2-40B4-BE49-F238E27FC236}">
                <a16:creationId xmlns:a16="http://schemas.microsoft.com/office/drawing/2014/main" id="{F6BD9615-B2B2-D470-7820-888E1CB64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27265">
            <a:off x="9431160" y="-260334"/>
            <a:ext cx="3183511" cy="318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047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6C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uva 2">
            <a:extLst>
              <a:ext uri="{FF2B5EF4-FFF2-40B4-BE49-F238E27FC236}">
                <a16:creationId xmlns:a16="http://schemas.microsoft.com/office/drawing/2014/main" id="{D4BC0AE2-4FCC-5CFC-D9D0-16D9CA3E0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985993">
            <a:off x="4099557" y="294193"/>
            <a:ext cx="3792162" cy="53637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Kuva 6">
            <a:extLst>
              <a:ext uri="{FF2B5EF4-FFF2-40B4-BE49-F238E27FC236}">
                <a16:creationId xmlns:a16="http://schemas.microsoft.com/office/drawing/2014/main" id="{42A87478-BA21-4CE3-7137-F930EF70C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06015">
            <a:off x="8097040" y="1110610"/>
            <a:ext cx="3792162" cy="53637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kstiruutu 8">
            <a:extLst>
              <a:ext uri="{FF2B5EF4-FFF2-40B4-BE49-F238E27FC236}">
                <a16:creationId xmlns:a16="http://schemas.microsoft.com/office/drawing/2014/main" id="{FED959E7-8BCC-E122-8C5C-8066E2265E54}"/>
              </a:ext>
            </a:extLst>
          </p:cNvPr>
          <p:cNvSpPr txBox="1"/>
          <p:nvPr/>
        </p:nvSpPr>
        <p:spPr>
          <a:xfrm>
            <a:off x="509859" y="462697"/>
            <a:ext cx="314340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5400" b="1" dirty="0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377346" dist="38100" dir="18900000" sx="114000" sy="114000" algn="bl" rotWithShape="0">
                    <a:prstClr val="black">
                      <a:alpha val="34000"/>
                    </a:prstClr>
                  </a:outerShdw>
                </a:effectLst>
                <a:latin typeface="Alasassy Caps" pitchFamily="2" charset="0"/>
                <a:ea typeface="Verdana" panose="020B0604030504040204" pitchFamily="34" charset="0"/>
              </a:rPr>
              <a:t>Passit, jotka jaetaan nuorille</a:t>
            </a:r>
            <a:endParaRPr lang="fi-FI" sz="5400" b="1" dirty="0">
              <a:ln w="28575">
                <a:solidFill>
                  <a:schemeClr val="bg1"/>
                </a:solidFill>
                <a:prstDash val="solid"/>
              </a:ln>
              <a:effectLst>
                <a:outerShdw blurRad="377346" dist="38100" dir="18900000" sx="114000" sy="114000" algn="bl" rotWithShape="0">
                  <a:prstClr val="black">
                    <a:alpha val="34000"/>
                  </a:prstClr>
                </a:outerShdw>
              </a:effectLst>
            </a:endParaRPr>
          </a:p>
        </p:txBody>
      </p:sp>
      <p:sp>
        <p:nvSpPr>
          <p:cNvPr id="10" name="Tekstiruutu 9">
            <a:extLst>
              <a:ext uri="{FF2B5EF4-FFF2-40B4-BE49-F238E27FC236}">
                <a16:creationId xmlns:a16="http://schemas.microsoft.com/office/drawing/2014/main" id="{C7EE2FD7-66CE-B5FD-274D-501A18CF557E}"/>
              </a:ext>
            </a:extLst>
          </p:cNvPr>
          <p:cNvSpPr txBox="1"/>
          <p:nvPr/>
        </p:nvSpPr>
        <p:spPr>
          <a:xfrm>
            <a:off x="334039" y="4037759"/>
            <a:ext cx="34950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Passit sisältävät henkilökohtaiset </a:t>
            </a:r>
            <a:r>
              <a:rPr lang="fi-FI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VIBEs</a:t>
            </a:r>
            <a:r>
              <a:rPr lang="fi-FI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–koodin, jolla passi aktivoituu käyttöön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Jokainen nuori saa yhden koodin ja on nuoren vastuulla pitää se tallessa</a:t>
            </a:r>
          </a:p>
        </p:txBody>
      </p:sp>
    </p:spTree>
    <p:extLst>
      <p:ext uri="{BB962C8B-B14F-4D97-AF65-F5344CB8AC3E}">
        <p14:creationId xmlns:p14="http://schemas.microsoft.com/office/powerpoint/2010/main" val="586932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F01D-AE6D-0F4B-518A-31D32A8C4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uva 4">
            <a:extLst>
              <a:ext uri="{FF2B5EF4-FFF2-40B4-BE49-F238E27FC236}">
                <a16:creationId xmlns:a16="http://schemas.microsoft.com/office/drawing/2014/main" id="{3DE873A7-DF8E-E618-0787-1971BDBB1A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4687" r="11044"/>
          <a:stretch>
            <a:fillRect/>
          </a:stretch>
        </p:blipFill>
        <p:spPr>
          <a:xfrm rot="16200000">
            <a:off x="2667001" y="-2667000"/>
            <a:ext cx="6857999" cy="12192000"/>
          </a:xfrm>
          <a:prstGeom prst="rect">
            <a:avLst/>
          </a:prstGeom>
        </p:spPr>
      </p:pic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5D64888E-F99D-9422-0701-F0F61D252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0879" y="883920"/>
            <a:ext cx="9940249" cy="5531246"/>
          </a:xfrm>
          <a:solidFill>
            <a:srgbClr val="FFFFFF">
              <a:alpha val="60000"/>
            </a:srgb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Passi on henkilökohtainen, mutta osaan palveluista voi passilla päästä yhdessä kaverin kanssa (riippuen sopimuksesta yritysten kanssa).</a:t>
            </a:r>
          </a:p>
          <a:p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Passit sekä henkilökohtaiset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VIBEs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–koodit jaetaan oppilaan-/opinto-ohjaajan tunnilla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alkusykysystä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2026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. Materiaali sekä ohjeistus passin käyttöönottoon toimitetaan koulujen yhteyshenkilöille.  </a:t>
            </a:r>
          </a:p>
          <a:p>
            <a:pPr lvl="1"/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Passi ei kerää henkilötietoja tai pidä rekisteriä sen käyttäjistä. </a:t>
            </a:r>
          </a:p>
          <a:p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Alkuvuodesta 2027 passin käyttöä analysoidaan ja 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tavoitteena on laajentaa palvelua niin palveluntarjoajien, kuin myös passin saavien nuorten osalta.</a:t>
            </a:r>
          </a:p>
        </p:txBody>
      </p:sp>
      <p:pic>
        <p:nvPicPr>
          <p:cNvPr id="7" name="Kuva 6">
            <a:extLst>
              <a:ext uri="{FF2B5EF4-FFF2-40B4-BE49-F238E27FC236}">
                <a16:creationId xmlns:a16="http://schemas.microsoft.com/office/drawing/2014/main" id="{3162CA48-BF14-EFF1-B656-E15344EF6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71421">
            <a:off x="-453385" y="15924"/>
            <a:ext cx="3131641" cy="313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24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FB59F9-0E1D-F496-B033-911620DD1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uva 5">
            <a:extLst>
              <a:ext uri="{FF2B5EF4-FFF2-40B4-BE49-F238E27FC236}">
                <a16:creationId xmlns:a16="http://schemas.microsoft.com/office/drawing/2014/main" id="{02AAF97C-C0EE-0DC9-6D7D-9731968316E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4687" r="11044"/>
          <a:stretch>
            <a:fillRect/>
          </a:stretch>
        </p:blipFill>
        <p:spPr>
          <a:xfrm rot="16200000">
            <a:off x="2667000" y="-2667000"/>
            <a:ext cx="6857999" cy="12192000"/>
          </a:xfrm>
          <a:prstGeom prst="rect">
            <a:avLst/>
          </a:prstGeom>
        </p:spPr>
      </p:pic>
      <p:sp>
        <p:nvSpPr>
          <p:cNvPr id="8" name="Otsikko 1">
            <a:extLst>
              <a:ext uri="{FF2B5EF4-FFF2-40B4-BE49-F238E27FC236}">
                <a16:creationId xmlns:a16="http://schemas.microsoft.com/office/drawing/2014/main" id="{FA4326DC-FBEE-A1E3-D22C-26F792259525}"/>
              </a:ext>
            </a:extLst>
          </p:cNvPr>
          <p:cNvSpPr txBox="1">
            <a:spLocks/>
          </p:cNvSpPr>
          <p:nvPr/>
        </p:nvSpPr>
        <p:spPr>
          <a:xfrm>
            <a:off x="2865612" y="1424038"/>
            <a:ext cx="811898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fi-FI" sz="6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lasassy Caps" pitchFamily="2" charset="0"/>
              </a:rPr>
              <a:t>Passia toimii osoitteessa:</a:t>
            </a:r>
            <a:endParaRPr lang="fi-FI" sz="6000" dirty="0"/>
          </a:p>
        </p:txBody>
      </p:sp>
      <p:sp>
        <p:nvSpPr>
          <p:cNvPr id="9" name="Sisällön paikkamerkki 2">
            <a:extLst>
              <a:ext uri="{FF2B5EF4-FFF2-40B4-BE49-F238E27FC236}">
                <a16:creationId xmlns:a16="http://schemas.microsoft.com/office/drawing/2014/main" id="{16728797-53FA-4856-6DDD-AD99C1B76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6386" y="3024833"/>
            <a:ext cx="7578213" cy="2500569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fi-FI" sz="6000" dirty="0">
                <a:solidFill>
                  <a:srgbClr val="E57FD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allvibes.fi</a:t>
            </a:r>
          </a:p>
        </p:txBody>
      </p:sp>
      <p:pic>
        <p:nvPicPr>
          <p:cNvPr id="13" name="Kuva 12">
            <a:extLst>
              <a:ext uri="{FF2B5EF4-FFF2-40B4-BE49-F238E27FC236}">
                <a16:creationId xmlns:a16="http://schemas.microsoft.com/office/drawing/2014/main" id="{78811DCC-3BBF-0933-B7E3-E54C3F8FB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156394">
            <a:off x="-293392" y="1332598"/>
            <a:ext cx="4001791" cy="400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11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2C8A2E-FA5C-E7A5-3932-B049739B3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Kuva 5">
            <a:extLst>
              <a:ext uri="{FF2B5EF4-FFF2-40B4-BE49-F238E27FC236}">
                <a16:creationId xmlns:a16="http://schemas.microsoft.com/office/drawing/2014/main" id="{11A9AC5D-A717-9A87-21E8-1F74C31D45C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Otsikko 1">
            <a:extLst>
              <a:ext uri="{FF2B5EF4-FFF2-40B4-BE49-F238E27FC236}">
                <a16:creationId xmlns:a16="http://schemas.microsoft.com/office/drawing/2014/main" id="{5C964015-C0E5-721F-AB03-713F3644E0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br>
              <a:rPr lang="fi-FI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Alasassy Caps" pitchFamily="2" charset="0"/>
                <a:cs typeface="Alasassy Caps" panose="020F0502020204030204" pitchFamily="34" charset="0"/>
              </a:rPr>
            </a:br>
            <a:r>
              <a:rPr lang="fi-FI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Alasassy Caps" pitchFamily="2" charset="0"/>
                <a:cs typeface="Alasassy Caps" panose="020F0502020204030204" pitchFamily="34" charset="0"/>
              </a:rPr>
              <a:t>Tulossa pian: ALL VIBES OK –PODCAST @ sPOTIFY</a:t>
            </a:r>
            <a:endParaRPr lang="fi-FI" b="1" dirty="0">
              <a:ln w="22225">
                <a:solidFill>
                  <a:schemeClr val="tx1"/>
                </a:solidFill>
                <a:miter lim="800000"/>
              </a:ln>
              <a:solidFill>
                <a:srgbClr val="FFFFFF"/>
              </a:solidFill>
              <a:latin typeface="Alasassy Caps" pitchFamily="2" charset="0"/>
              <a:cs typeface="Alasassy Caps" panose="020F0502020204030204" pitchFamily="34" charset="0"/>
            </a:endParaRP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AF3E8403-BDC4-D3C4-32DB-5BE821CBD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fi-FI" sz="1500" b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All VIBEs Ok</a:t>
            </a:r>
            <a:r>
              <a:rPr lang="fi-FI" sz="150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on nuorille suunnattu podcast, joka käsittelee mielenterveyttä, tosielämän haasteita, identiteettiä, ihmissuhteita ja oman polun löytämistä elämässä – rehellisesti, huumorilla ja muistuttaen, ettei jokaisen viben tarvitse olla hyvä.</a:t>
            </a:r>
          </a:p>
          <a:p>
            <a:r>
              <a:rPr lang="fi-FI" sz="150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HOSTED BY TYTTILOTTA AALLOSTO</a:t>
            </a:r>
          </a:p>
        </p:txBody>
      </p:sp>
    </p:spTree>
    <p:extLst>
      <p:ext uri="{BB962C8B-B14F-4D97-AF65-F5344CB8AC3E}">
        <p14:creationId xmlns:p14="http://schemas.microsoft.com/office/powerpoint/2010/main" val="2326560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6C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uva 2" descr="Pakotalo">
            <a:extLst>
              <a:ext uri="{FF2B5EF4-FFF2-40B4-BE49-F238E27FC236}">
                <a16:creationId xmlns:a16="http://schemas.microsoft.com/office/drawing/2014/main" id="{CF229F43-479C-D9B7-1CC5-5864F1012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811" y="1954311"/>
            <a:ext cx="2540579" cy="1282992"/>
          </a:xfrm>
          <a:prstGeom prst="rect">
            <a:avLst/>
          </a:prstGeom>
        </p:spPr>
      </p:pic>
      <p:pic>
        <p:nvPicPr>
          <p:cNvPr id="5" name="Kuva 4">
            <a:extLst>
              <a:ext uri="{FF2B5EF4-FFF2-40B4-BE49-F238E27FC236}">
                <a16:creationId xmlns:a16="http://schemas.microsoft.com/office/drawing/2014/main" id="{D37CBB79-9E9E-3640-0E42-0B993C0F0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99" y="2848441"/>
            <a:ext cx="1556060" cy="1556060"/>
          </a:xfrm>
          <a:prstGeom prst="rect">
            <a:avLst/>
          </a:prstGeom>
        </p:spPr>
      </p:pic>
      <p:pic>
        <p:nvPicPr>
          <p:cNvPr id="7" name="Kuva 6" descr="Joogastudio Tyyni">
            <a:extLst>
              <a:ext uri="{FF2B5EF4-FFF2-40B4-BE49-F238E27FC236}">
                <a16:creationId xmlns:a16="http://schemas.microsoft.com/office/drawing/2014/main" id="{4C9A878B-9503-7A7A-C1B5-8148F95338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5970" y="4382916"/>
            <a:ext cx="1643855" cy="1643855"/>
          </a:xfrm>
          <a:prstGeom prst="rect">
            <a:avLst/>
          </a:prstGeom>
        </p:spPr>
      </p:pic>
      <p:pic>
        <p:nvPicPr>
          <p:cNvPr id="9" name="Kuva 8" descr="Pelibunkkeri">
            <a:extLst>
              <a:ext uri="{FF2B5EF4-FFF2-40B4-BE49-F238E27FC236}">
                <a16:creationId xmlns:a16="http://schemas.microsoft.com/office/drawing/2014/main" id="{C1EB8E77-D93B-00DC-1A3A-E656B8D4C0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2022" y="1276485"/>
            <a:ext cx="2540579" cy="330275"/>
          </a:xfrm>
          <a:prstGeom prst="rect">
            <a:avLst/>
          </a:prstGeom>
        </p:spPr>
      </p:pic>
      <p:pic>
        <p:nvPicPr>
          <p:cNvPr id="11" name="Kuva 10" descr="Kärpät">
            <a:extLst>
              <a:ext uri="{FF2B5EF4-FFF2-40B4-BE49-F238E27FC236}">
                <a16:creationId xmlns:a16="http://schemas.microsoft.com/office/drawing/2014/main" id="{E2207741-D414-9C0E-3A23-9805144B1C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32516" y="3474059"/>
            <a:ext cx="2321415" cy="1489515"/>
          </a:xfrm>
          <a:prstGeom prst="rect">
            <a:avLst/>
          </a:prstGeom>
        </p:spPr>
      </p:pic>
      <p:pic>
        <p:nvPicPr>
          <p:cNvPr id="13" name="Kuva 12" descr="Merkkilabra">
            <a:extLst>
              <a:ext uri="{FF2B5EF4-FFF2-40B4-BE49-F238E27FC236}">
                <a16:creationId xmlns:a16="http://schemas.microsoft.com/office/drawing/2014/main" id="{785647BF-E0EF-334D-8C41-A81EF58C8D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4741" y="1669470"/>
            <a:ext cx="2540579" cy="673253"/>
          </a:xfrm>
          <a:prstGeom prst="rect">
            <a:avLst/>
          </a:prstGeom>
        </p:spPr>
      </p:pic>
      <p:pic>
        <p:nvPicPr>
          <p:cNvPr id="15" name="Kuva 14" descr="Kaleva">
            <a:extLst>
              <a:ext uri="{FF2B5EF4-FFF2-40B4-BE49-F238E27FC236}">
                <a16:creationId xmlns:a16="http://schemas.microsoft.com/office/drawing/2014/main" id="{91158A79-E755-53DA-7CB0-D81BC5E872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6827" y="469462"/>
            <a:ext cx="2540579" cy="482710"/>
          </a:xfrm>
          <a:prstGeom prst="rect">
            <a:avLst/>
          </a:prstGeom>
        </p:spPr>
      </p:pic>
      <p:pic>
        <p:nvPicPr>
          <p:cNvPr id="17" name="Kuva 16" descr="Bo LKV">
            <a:extLst>
              <a:ext uri="{FF2B5EF4-FFF2-40B4-BE49-F238E27FC236}">
                <a16:creationId xmlns:a16="http://schemas.microsoft.com/office/drawing/2014/main" id="{A0D578D9-1E47-1007-5F25-E476DE9C50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61861" y="2515085"/>
            <a:ext cx="914730" cy="1053326"/>
          </a:xfrm>
          <a:prstGeom prst="rect">
            <a:avLst/>
          </a:prstGeom>
        </p:spPr>
      </p:pic>
      <p:pic>
        <p:nvPicPr>
          <p:cNvPr id="19" name="Kuva 18" descr="Rela-hierojat">
            <a:extLst>
              <a:ext uri="{FF2B5EF4-FFF2-40B4-BE49-F238E27FC236}">
                <a16:creationId xmlns:a16="http://schemas.microsoft.com/office/drawing/2014/main" id="{17EDBADC-233F-267D-CDA3-641EF0F189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3955" y="1699164"/>
            <a:ext cx="2903822" cy="703957"/>
          </a:xfrm>
          <a:prstGeom prst="rect">
            <a:avLst/>
          </a:prstGeom>
        </p:spPr>
      </p:pic>
      <p:pic>
        <p:nvPicPr>
          <p:cNvPr id="21" name="Kuva 20">
            <a:extLst>
              <a:ext uri="{FF2B5EF4-FFF2-40B4-BE49-F238E27FC236}">
                <a16:creationId xmlns:a16="http://schemas.microsoft.com/office/drawing/2014/main" id="{71BFD799-5FD9-0F6F-225A-6D2B2A45A5F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19226" y="3626471"/>
            <a:ext cx="1459051" cy="1925947"/>
          </a:xfrm>
          <a:prstGeom prst="rect">
            <a:avLst/>
          </a:prstGeom>
        </p:spPr>
      </p:pic>
      <p:pic>
        <p:nvPicPr>
          <p:cNvPr id="23" name="Kuva 22" descr="Painomiehet">
            <a:extLst>
              <a:ext uri="{FF2B5EF4-FFF2-40B4-BE49-F238E27FC236}">
                <a16:creationId xmlns:a16="http://schemas.microsoft.com/office/drawing/2014/main" id="{3BA85325-6F47-6BB5-2F8C-D5A217F66B6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35118" y="364435"/>
            <a:ext cx="1452471" cy="1445208"/>
          </a:xfrm>
          <a:prstGeom prst="rect">
            <a:avLst/>
          </a:prstGeom>
        </p:spPr>
      </p:pic>
      <p:pic>
        <p:nvPicPr>
          <p:cNvPr id="25" name="Kuva 24" descr="NUVOO.com">
            <a:extLst>
              <a:ext uri="{FF2B5EF4-FFF2-40B4-BE49-F238E27FC236}">
                <a16:creationId xmlns:a16="http://schemas.microsoft.com/office/drawing/2014/main" id="{807F7C2C-56BE-A978-2FF1-79D76377D07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7698" y="5828197"/>
            <a:ext cx="2540579" cy="609739"/>
          </a:xfrm>
          <a:prstGeom prst="rect">
            <a:avLst/>
          </a:prstGeom>
        </p:spPr>
      </p:pic>
      <p:pic>
        <p:nvPicPr>
          <p:cNvPr id="27" name="Kuva 26" descr="MPS">
            <a:extLst>
              <a:ext uri="{FF2B5EF4-FFF2-40B4-BE49-F238E27FC236}">
                <a16:creationId xmlns:a16="http://schemas.microsoft.com/office/drawing/2014/main" id="{C6799839-F87F-EE39-32B4-5E12D51ED2B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08833" y="4949800"/>
            <a:ext cx="1710631" cy="1445483"/>
          </a:xfrm>
          <a:prstGeom prst="rect">
            <a:avLst/>
          </a:prstGeom>
        </p:spPr>
      </p:pic>
      <p:pic>
        <p:nvPicPr>
          <p:cNvPr id="29" name="Kuva 28" descr="Vuolle Poikien Talo">
            <a:extLst>
              <a:ext uri="{FF2B5EF4-FFF2-40B4-BE49-F238E27FC236}">
                <a16:creationId xmlns:a16="http://schemas.microsoft.com/office/drawing/2014/main" id="{13D68812-F48E-8D3C-7D9B-CB567B03475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63397" y="403001"/>
            <a:ext cx="1904618" cy="885647"/>
          </a:xfrm>
          <a:prstGeom prst="rect">
            <a:avLst/>
          </a:prstGeom>
        </p:spPr>
      </p:pic>
      <p:pic>
        <p:nvPicPr>
          <p:cNvPr id="31" name="Kuva 30" descr="Vuolle Tyttöjen Talo">
            <a:extLst>
              <a:ext uri="{FF2B5EF4-FFF2-40B4-BE49-F238E27FC236}">
                <a16:creationId xmlns:a16="http://schemas.microsoft.com/office/drawing/2014/main" id="{A9B37121-6084-D42E-8EA0-BF04F8633B2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93213" y="2848441"/>
            <a:ext cx="1926037" cy="895607"/>
          </a:xfrm>
          <a:prstGeom prst="rect">
            <a:avLst/>
          </a:prstGeom>
        </p:spPr>
      </p:pic>
      <p:pic>
        <p:nvPicPr>
          <p:cNvPr id="33" name="Kuva 32" descr="Business Asema">
            <a:extLst>
              <a:ext uri="{FF2B5EF4-FFF2-40B4-BE49-F238E27FC236}">
                <a16:creationId xmlns:a16="http://schemas.microsoft.com/office/drawing/2014/main" id="{302D9820-576C-16A1-B118-96CED7D44EB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21703" y="5634067"/>
            <a:ext cx="2540579" cy="1041637"/>
          </a:xfrm>
          <a:prstGeom prst="rect">
            <a:avLst/>
          </a:prstGeom>
        </p:spPr>
      </p:pic>
      <p:pic>
        <p:nvPicPr>
          <p:cNvPr id="35" name="Kuva 34" descr="Oppi-Paletti">
            <a:extLst>
              <a:ext uri="{FF2B5EF4-FFF2-40B4-BE49-F238E27FC236}">
                <a16:creationId xmlns:a16="http://schemas.microsoft.com/office/drawing/2014/main" id="{21E66104-18E0-4995-C37F-0D78DE2993F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35118" y="3649398"/>
            <a:ext cx="1630289" cy="1027082"/>
          </a:xfrm>
          <a:prstGeom prst="rect">
            <a:avLst/>
          </a:prstGeom>
        </p:spPr>
      </p:pic>
      <p:pic>
        <p:nvPicPr>
          <p:cNvPr id="37" name="Kuva 36" descr="Oulu Pride">
            <a:extLst>
              <a:ext uri="{FF2B5EF4-FFF2-40B4-BE49-F238E27FC236}">
                <a16:creationId xmlns:a16="http://schemas.microsoft.com/office/drawing/2014/main" id="{15B209D9-B3E3-906F-0D41-6531FAFB217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6761" y="4382916"/>
            <a:ext cx="1533364" cy="2177377"/>
          </a:xfrm>
          <a:prstGeom prst="rect">
            <a:avLst/>
          </a:prstGeom>
        </p:spPr>
      </p:pic>
      <p:pic>
        <p:nvPicPr>
          <p:cNvPr id="39" name="Kuva 38" descr="4H Oulu">
            <a:extLst>
              <a:ext uri="{FF2B5EF4-FFF2-40B4-BE49-F238E27FC236}">
                <a16:creationId xmlns:a16="http://schemas.microsoft.com/office/drawing/2014/main" id="{5DC29833-6406-A546-9A85-7CD8DF625FA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221079" y="260012"/>
            <a:ext cx="1964055" cy="530295"/>
          </a:xfrm>
          <a:prstGeom prst="rect">
            <a:avLst/>
          </a:prstGeom>
        </p:spPr>
      </p:pic>
      <p:pic>
        <p:nvPicPr>
          <p:cNvPr id="41" name="Kuva 40" descr="KIF Design">
            <a:extLst>
              <a:ext uri="{FF2B5EF4-FFF2-40B4-BE49-F238E27FC236}">
                <a16:creationId xmlns:a16="http://schemas.microsoft.com/office/drawing/2014/main" id="{16605D4F-C319-CDDB-1B93-8A2754E74E7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40521" y="1699753"/>
            <a:ext cx="2540579" cy="685956"/>
          </a:xfrm>
          <a:prstGeom prst="rect">
            <a:avLst/>
          </a:prstGeom>
        </p:spPr>
      </p:pic>
      <p:pic>
        <p:nvPicPr>
          <p:cNvPr id="43" name="Kuva 42" descr="ODL">
            <a:extLst>
              <a:ext uri="{FF2B5EF4-FFF2-40B4-BE49-F238E27FC236}">
                <a16:creationId xmlns:a16="http://schemas.microsoft.com/office/drawing/2014/main" id="{36F8BC7F-0F1D-0A43-D924-95A27F6D625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372591" y="5544193"/>
            <a:ext cx="2110252" cy="812447"/>
          </a:xfrm>
          <a:prstGeom prst="rect">
            <a:avLst/>
          </a:prstGeom>
        </p:spPr>
      </p:pic>
      <p:pic>
        <p:nvPicPr>
          <p:cNvPr id="45" name="Kuva 44" descr="Nuorten Ystävät">
            <a:extLst>
              <a:ext uri="{FF2B5EF4-FFF2-40B4-BE49-F238E27FC236}">
                <a16:creationId xmlns:a16="http://schemas.microsoft.com/office/drawing/2014/main" id="{0699DBC5-6B50-D665-2516-796BEC9250A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994242" y="2506014"/>
            <a:ext cx="1272148" cy="1246705"/>
          </a:xfrm>
          <a:prstGeom prst="rect">
            <a:avLst/>
          </a:prstGeom>
        </p:spPr>
      </p:pic>
      <p:pic>
        <p:nvPicPr>
          <p:cNvPr id="47" name="Kuva 46" descr="Hellon">
            <a:extLst>
              <a:ext uri="{FF2B5EF4-FFF2-40B4-BE49-F238E27FC236}">
                <a16:creationId xmlns:a16="http://schemas.microsoft.com/office/drawing/2014/main" id="{4A69E8B1-645E-8B68-47E0-335378E286B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131634" y="3110182"/>
            <a:ext cx="1842757" cy="838454"/>
          </a:xfrm>
          <a:prstGeom prst="rect">
            <a:avLst/>
          </a:prstGeom>
        </p:spPr>
      </p:pic>
      <p:pic>
        <p:nvPicPr>
          <p:cNvPr id="49" name="Kuva 48" descr="Premium Some">
            <a:extLst>
              <a:ext uri="{FF2B5EF4-FFF2-40B4-BE49-F238E27FC236}">
                <a16:creationId xmlns:a16="http://schemas.microsoft.com/office/drawing/2014/main" id="{47FFA033-1436-03E8-61DB-269007A4AAD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266390" y="1776133"/>
            <a:ext cx="1528553" cy="1528553"/>
          </a:xfrm>
          <a:prstGeom prst="rect">
            <a:avLst/>
          </a:prstGeom>
        </p:spPr>
      </p:pic>
      <p:pic>
        <p:nvPicPr>
          <p:cNvPr id="51" name="Kuva 50">
            <a:extLst>
              <a:ext uri="{FF2B5EF4-FFF2-40B4-BE49-F238E27FC236}">
                <a16:creationId xmlns:a16="http://schemas.microsoft.com/office/drawing/2014/main" id="{9DBDF30E-5BBE-3195-059D-DAEC05ECB3AC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969885" y="4041962"/>
            <a:ext cx="1665990" cy="1330258"/>
          </a:xfrm>
          <a:prstGeom prst="rect">
            <a:avLst/>
          </a:prstGeom>
        </p:spPr>
      </p:pic>
      <p:pic>
        <p:nvPicPr>
          <p:cNvPr id="52" name="Kuva 51" descr="Oulu">
            <a:extLst>
              <a:ext uri="{FF2B5EF4-FFF2-40B4-BE49-F238E27FC236}">
                <a16:creationId xmlns:a16="http://schemas.microsoft.com/office/drawing/2014/main" id="{AB7C1D13-5331-F457-A7FB-26658F26132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77844" y="72130"/>
            <a:ext cx="1148370" cy="137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990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6C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uva 6">
            <a:extLst>
              <a:ext uri="{FF2B5EF4-FFF2-40B4-BE49-F238E27FC236}">
                <a16:creationId xmlns:a16="http://schemas.microsoft.com/office/drawing/2014/main" id="{B39828F7-9192-4D95-5531-52543A630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19" y="217449"/>
            <a:ext cx="5138482" cy="64231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kstiruutu 8">
            <a:extLst>
              <a:ext uri="{FF2B5EF4-FFF2-40B4-BE49-F238E27FC236}">
                <a16:creationId xmlns:a16="http://schemas.microsoft.com/office/drawing/2014/main" id="{3F7FE9E5-0783-1961-1BF5-4E6CCB3FA8D9}"/>
              </a:ext>
            </a:extLst>
          </p:cNvPr>
          <p:cNvSpPr txBox="1"/>
          <p:nvPr/>
        </p:nvSpPr>
        <p:spPr>
          <a:xfrm>
            <a:off x="6096000" y="3429000"/>
            <a:ext cx="500050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Keräyksen järjestäjä: Oulun Tervaporvarien Nuorkauppakamari Ry</a:t>
            </a:r>
          </a:p>
          <a:p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Yhteystiedot: vibes@jciouluntervaporvarit.fi</a:t>
            </a:r>
          </a:p>
          <a:p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Pienkeräysnumero: RA/2026/897</a:t>
            </a:r>
          </a:p>
          <a:p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Tilinumero: FI88 5741 4020 2049 34</a:t>
            </a:r>
          </a:p>
          <a:p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Mobilepay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numero: 42752</a:t>
            </a:r>
          </a:p>
          <a:p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Keräysaika: 1.8.-31.10.2026</a:t>
            </a:r>
          </a:p>
          <a:p>
            <a:endParaRPr lang="fi-FI" dirty="0"/>
          </a:p>
        </p:txBody>
      </p:sp>
      <p:sp>
        <p:nvSpPr>
          <p:cNvPr id="11" name="Tekstiruutu 10">
            <a:extLst>
              <a:ext uri="{FF2B5EF4-FFF2-40B4-BE49-F238E27FC236}">
                <a16:creationId xmlns:a16="http://schemas.microsoft.com/office/drawing/2014/main" id="{E017DF85-18C8-9C54-D590-EC6EA03C756C}"/>
              </a:ext>
            </a:extLst>
          </p:cNvPr>
          <p:cNvSpPr txBox="1"/>
          <p:nvPr/>
        </p:nvSpPr>
        <p:spPr>
          <a:xfrm>
            <a:off x="6004560" y="462697"/>
            <a:ext cx="500050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4400" b="1" dirty="0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377346" dist="38100" dir="18900000" sx="114000" sy="114000" algn="bl" rotWithShape="0">
                    <a:prstClr val="black">
                      <a:alpha val="34000"/>
                    </a:prstClr>
                  </a:outerShdw>
                </a:effectLst>
                <a:latin typeface="Alasassy Caps" pitchFamily="2" charset="0"/>
                <a:ea typeface="Verdana" panose="020B0604030504040204" pitchFamily="34" charset="0"/>
              </a:rPr>
              <a:t>Pienkeräyksen avulla myös yksityishenkilöt mahdollistavat </a:t>
            </a:r>
            <a:r>
              <a:rPr lang="fi-FI" sz="4400" b="1" dirty="0" err="1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377346" dist="38100" dir="18900000" sx="114000" sy="114000" algn="bl" rotWithShape="0">
                    <a:prstClr val="black">
                      <a:alpha val="34000"/>
                    </a:prstClr>
                  </a:outerShdw>
                </a:effectLst>
                <a:latin typeface="Alasassy Caps" pitchFamily="2" charset="0"/>
                <a:ea typeface="Verdana" panose="020B0604030504040204" pitchFamily="34" charset="0"/>
              </a:rPr>
              <a:t>vibesin</a:t>
            </a:r>
            <a:r>
              <a:rPr lang="fi-FI" sz="4400" b="1" dirty="0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377346" dist="38100" dir="18900000" sx="114000" sy="114000" algn="bl" rotWithShape="0">
                    <a:prstClr val="black">
                      <a:alpha val="34000"/>
                    </a:prstClr>
                  </a:outerShdw>
                </a:effectLst>
                <a:latin typeface="Alasassy Caps" pitchFamily="2" charset="0"/>
                <a:ea typeface="Verdana" panose="020B0604030504040204" pitchFamily="34" charset="0"/>
              </a:rPr>
              <a:t> toimintaa</a:t>
            </a:r>
            <a:endParaRPr lang="fi-FI" sz="4400" b="1" dirty="0">
              <a:ln w="28575">
                <a:solidFill>
                  <a:schemeClr val="bg1"/>
                </a:solidFill>
                <a:prstDash val="solid"/>
              </a:ln>
              <a:effectLst>
                <a:outerShdw blurRad="377346" dist="38100" dir="18900000" sx="114000" sy="114000" algn="bl" rotWithShape="0">
                  <a:prstClr val="black">
                    <a:alpha val="34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37901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6C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C35849C-AF8E-3179-0BDC-4F6F6BD5C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Huomioitavaa kouluille!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346AE320-602B-F238-6573-45B064D59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AutoNum type="arabicPeriod"/>
            </a:pP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Jakakaa passit 1kpl/oppilas. Passit on koodattu siten, että jokaisessa passissa on henkilökohtainen koodi oppilaalle/opiskelijalle.</a:t>
            </a:r>
          </a:p>
          <a:p>
            <a:pPr marL="514350" indent="-514350">
              <a:buAutoNum type="arabicPeriod"/>
            </a:pP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Nimilistaa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tm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ei tarvitse kerätä, jos ette itse halua pitää kirjaa passin saaneista oppilaista. Listaa ei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kuitenkaa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tule toimittaa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VIBEsin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henkilökunnalle tietoturvasyistä.</a:t>
            </a:r>
          </a:p>
          <a:p>
            <a:pPr marL="514350" indent="-514350">
              <a:buAutoNum type="arabicPeriod"/>
            </a:pP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Painottakaa, että passin koodia tarvitsee aina uudelleen, kun sivulle kirjautuu. Koodia ei saa uutta, joten se tulee säilyttää itsellä tallessa esim. puhelimessa tms.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VIBEs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ei myöskään vastaa, jos koodi päätyy vääriin käsiin. </a:t>
            </a:r>
          </a:p>
          <a:p>
            <a:pPr marL="514350" indent="-514350">
              <a:buAutoNum type="arabicPeriod"/>
            </a:pP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VIBEs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toimittaa kouluille keväällä 2027 kyselyn passin käyttökokemuksista nuorille, jonka pyydämme teitä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jakamaansen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opiskelijoille käyttämässänne tiedotuslähteessä tai täyttämään kyselyn oppitunnilla. </a:t>
            </a:r>
          </a:p>
        </p:txBody>
      </p:sp>
    </p:spTree>
    <p:extLst>
      <p:ext uri="{BB962C8B-B14F-4D97-AF65-F5344CB8AC3E}">
        <p14:creationId xmlns:p14="http://schemas.microsoft.com/office/powerpoint/2010/main" val="746202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-te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-tee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e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Asiakirja" ma:contentTypeID="0x010100BF4D5538B0FEAC4BA0DBC43623EC387F" ma:contentTypeVersion="4" ma:contentTypeDescription="Luo uusi asiakirja." ma:contentTypeScope="" ma:versionID="7ee6c0b3967806bea1bb1f077c836a03">
  <xsd:schema xmlns:xsd="http://www.w3.org/2001/XMLSchema" xmlns:xs="http://www.w3.org/2001/XMLSchema" xmlns:p="http://schemas.microsoft.com/office/2006/metadata/properties" xmlns:ns2="367b7fb1-f783-4b35-8c0c-64a4810c89c9" targetNamespace="http://schemas.microsoft.com/office/2006/metadata/properties" ma:root="true" ma:fieldsID="68ac285f2c6d7e0969c9ead1c692f1f5" ns2:_="">
    <xsd:import namespace="367b7fb1-f783-4b35-8c0c-64a4810c89c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7b7fb1-f783-4b35-8c0c-64a4810c89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isältölaji"/>
        <xsd:element ref="dc:title" minOccurs="0" maxOccurs="1" ma:index="4" ma:displayName="Otsikk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73D618F-6D4B-48F1-B9D0-52EDAAD0D60F}">
  <ds:schemaRefs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367b7fb1-f783-4b35-8c0c-64a4810c89c9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20E8C38-DCD7-401E-975E-85430573FD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717FB6-A4F6-4F74-807B-3191543A37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7b7fb1-f783-4b35-8c0c-64a4810c89c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34294</TotalTime>
  <Words>665</Words>
  <Application>Microsoft Office PowerPoint</Application>
  <PresentationFormat>Laajakuva</PresentationFormat>
  <Paragraphs>46</Paragraphs>
  <Slides>12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6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12</vt:i4>
      </vt:variant>
    </vt:vector>
  </HeadingPairs>
  <TitlesOfParts>
    <vt:vector size="19" baseType="lpstr">
      <vt:lpstr>Alasassy Caps</vt:lpstr>
      <vt:lpstr>Aptos</vt:lpstr>
      <vt:lpstr>Aptos Display</vt:lpstr>
      <vt:lpstr>Arial</vt:lpstr>
      <vt:lpstr>Avenir Next Condensed</vt:lpstr>
      <vt:lpstr>Poppins</vt:lpstr>
      <vt:lpstr>Office-teema</vt:lpstr>
      <vt:lpstr> VIBeS –projekti </vt:lpstr>
      <vt:lpstr>PowerPoint-esitys</vt:lpstr>
      <vt:lpstr>Projektin keskeiset tavoitteet:</vt:lpstr>
      <vt:lpstr>PowerPoint-esitys</vt:lpstr>
      <vt:lpstr>Passin toimintaperiaate</vt:lpstr>
      <vt:lpstr>PowerPoint-esitys</vt:lpstr>
      <vt:lpstr>PowerPoint-esitys</vt:lpstr>
      <vt:lpstr>PowerPoint-esitys</vt:lpstr>
      <vt:lpstr> Tulossa pian: ALL VIBES OK –PODCAST @ sPOTIFY</vt:lpstr>
      <vt:lpstr>PowerPoint-esitys</vt:lpstr>
      <vt:lpstr>PowerPoint-esitys</vt:lpstr>
      <vt:lpstr>Huomioitavaa kouluille!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Tyttilotta Karjalainen</dc:creator>
  <cp:lastModifiedBy>Aallosto Tyttilotta</cp:lastModifiedBy>
  <cp:revision>15</cp:revision>
  <dcterms:created xsi:type="dcterms:W3CDTF">2025-05-05T22:03:44Z</dcterms:created>
  <dcterms:modified xsi:type="dcterms:W3CDTF">2026-08-24T12:11:09Z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0x010100BF4D5538B0FEAC4BA0DBC43623EC387F</vt:lpwstr>
  </property>
</Properties>
</file>