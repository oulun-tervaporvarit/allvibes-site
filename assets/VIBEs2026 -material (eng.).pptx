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sldIdLst>
    <p:sldId id="256" r:id="rId5"/>
    <p:sldId id="260" r:id="rId6"/>
    <p:sldId id="259" r:id="rId7"/>
    <p:sldId id="261" r:id="rId8"/>
    <p:sldId id="264" r:id="rId9"/>
    <p:sldId id="270" r:id="rId10"/>
    <p:sldId id="266" r:id="rId11"/>
    <p:sldId id="268" r:id="rId12"/>
    <p:sldId id="269" r:id="rId13"/>
    <p:sldId id="274" r:id="rId14"/>
    <p:sldId id="271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96C98"/>
    <a:srgbClr val="5FCD3B"/>
    <a:srgbClr val="E57FD6"/>
    <a:srgbClr val="FDF882"/>
    <a:srgbClr val="1E2631"/>
    <a:srgbClr val="663300"/>
    <a:srgbClr val="683B24"/>
    <a:srgbClr val="70A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21"/>
    <p:restoredTop sz="94694"/>
  </p:normalViewPr>
  <p:slideViewPr>
    <p:cSldViewPr snapToGrid="0">
      <p:cViewPr varScale="1">
        <p:scale>
          <a:sx n="45" d="100"/>
          <a:sy n="45" d="100"/>
        </p:scale>
        <p:origin x="9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73138-3DAA-4647-9077-3052EE3598D3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CB848-1AED-9C4E-A92E-CB5A4FB3E9C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2970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7833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8645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334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0097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8360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0085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6520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1227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Lisää kuva napsauttamalla kuvaketta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9288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31431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0546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9148A-1259-0945-951F-C0AEE1A30F12}" type="datetimeFigureOut">
              <a:rPr lang="fi-FI" smtClean="0"/>
              <a:t>24.8.2026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D86A5-66DB-224D-953A-548586F83009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2054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assi.stag.allvibes.fi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sv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vibes@jciouluntervaporvarit.fi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uva 5">
            <a:extLst>
              <a:ext uri="{FF2B5EF4-FFF2-40B4-BE49-F238E27FC236}">
                <a16:creationId xmlns:a16="http://schemas.microsoft.com/office/drawing/2014/main" id="{86037973-82B5-B1A0-AF3F-1DD6105D11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0" y="-1"/>
            <a:ext cx="12191980" cy="6857999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187B2BB5-6610-FE44-461C-29E8DD100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 fontScale="90000"/>
          </a:bodyPr>
          <a:lstStyle/>
          <a:p>
            <a:br>
              <a:rPr lang="fi-FI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</a:br>
            <a:r>
              <a:rPr lang="fi-FI" sz="13800" b="1" dirty="0" err="1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VIBe</a:t>
            </a:r>
            <a:r>
              <a:rPr lang="fi-FI" sz="10700" b="1" dirty="0" err="1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s</a:t>
            </a:r>
            <a:r>
              <a:rPr lang="fi-FI" sz="13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 –</a:t>
            </a:r>
            <a:r>
              <a:rPr lang="fi-FI" sz="13800" b="1" dirty="0" err="1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project</a:t>
            </a:r>
            <a:r>
              <a:rPr lang="fi-FI" sz="13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 </a:t>
            </a:r>
            <a:endParaRPr lang="fi-FI" b="1" dirty="0">
              <a:ln w="22225">
                <a:solidFill>
                  <a:schemeClr val="tx1"/>
                </a:solidFill>
                <a:miter lim="800000"/>
              </a:ln>
              <a:solidFill>
                <a:srgbClr val="FFFFFF"/>
              </a:solidFill>
              <a:latin typeface="Alasassy Caps" pitchFamily="2" charset="0"/>
              <a:cs typeface="Alasassy Caps" panose="020F0502020204030204" pitchFamily="34" charset="0"/>
            </a:endParaRP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0FE34135-D4BD-8029-B47B-956D1524E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6847"/>
            <a:ext cx="9144000" cy="1098395"/>
          </a:xfrm>
        </p:spPr>
        <p:txBody>
          <a:bodyPr>
            <a:normAutofit/>
          </a:bodyPr>
          <a:lstStyle/>
          <a:p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health-supporting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activities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for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Oulu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region</a:t>
            </a:r>
            <a:endParaRPr lang="fi-FI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E816698A-C1F3-3A77-9BAA-1C11B91F903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9694606" y="151862"/>
            <a:ext cx="2302783" cy="102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9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uva 1">
            <a:extLst>
              <a:ext uri="{FF2B5EF4-FFF2-40B4-BE49-F238E27FC236}">
                <a16:creationId xmlns:a16="http://schemas.microsoft.com/office/drawing/2014/main" id="{C28F54B8-CBE3-1442-7285-5043849BEB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687" r="11044"/>
          <a:stretch>
            <a:fillRect/>
          </a:stretch>
        </p:blipFill>
        <p:spPr>
          <a:xfrm rot="16200000">
            <a:off x="2667001" y="-2667000"/>
            <a:ext cx="6857999" cy="12192000"/>
          </a:xfrm>
          <a:prstGeom prst="rect">
            <a:avLst/>
          </a:prstGeom>
        </p:spPr>
      </p:pic>
      <p:sp>
        <p:nvSpPr>
          <p:cNvPr id="6" name="Otsikko 1">
            <a:extLst>
              <a:ext uri="{FF2B5EF4-FFF2-40B4-BE49-F238E27FC236}">
                <a16:creationId xmlns:a16="http://schemas.microsoft.com/office/drawing/2014/main" id="{F4DBB547-2D65-F418-9E4E-5BC37523E285}"/>
              </a:ext>
            </a:extLst>
          </p:cNvPr>
          <p:cNvSpPr txBox="1">
            <a:spLocks/>
          </p:cNvSpPr>
          <p:nvPr/>
        </p:nvSpPr>
        <p:spPr>
          <a:xfrm>
            <a:off x="2318796" y="613742"/>
            <a:ext cx="7772401" cy="4726276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i-FI" sz="80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’</a:t>
            </a:r>
            <a:r>
              <a:rPr lang="fi-FI" sz="8000" b="1" i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’ALL </a:t>
            </a:r>
            <a:r>
              <a:rPr lang="fi-FI" sz="8000" b="1" i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vibe</a:t>
            </a:r>
            <a:r>
              <a:rPr lang="fi-FI" sz="6000" b="1" i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S</a:t>
            </a:r>
            <a:r>
              <a:rPr lang="fi-FI" sz="8000" b="1" i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 </a:t>
            </a:r>
            <a:r>
              <a:rPr lang="fi-FI" sz="8000" b="1" i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oK</a:t>
            </a:r>
            <a:r>
              <a:rPr lang="fi-FI" sz="8000" b="1" i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’’</a:t>
            </a: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B19EB3C8-5BAD-B100-1B6A-B24C7A143DF2}"/>
              </a:ext>
            </a:extLst>
          </p:cNvPr>
          <p:cNvSpPr txBox="1"/>
          <p:nvPr/>
        </p:nvSpPr>
        <p:spPr>
          <a:xfrm>
            <a:off x="1725640" y="1968758"/>
            <a:ext cx="874071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project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which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promotes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people’s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health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gets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its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from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both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wordplay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and a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deeper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message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The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word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i="1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refers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to a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mood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feeling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or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atmosphere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in English –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is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exactly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what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project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is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all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about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creating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positive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supportive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hope-inspiring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“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” in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people’s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everyday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lives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ctr"/>
            <a:endParaRPr lang="fi-FI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It is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also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counterstatement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“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good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only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”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mentality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When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talking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about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health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it is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important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recognize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all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kinds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emotions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are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valid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should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able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talk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openly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about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how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they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are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feeling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ctr"/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Different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can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call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for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different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things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 For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one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person, it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might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exercise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; for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another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culture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or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creativity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sometimes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your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body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simply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needs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slow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down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relax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enjoy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some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self-care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49781FE4-DA42-663A-F9D7-4DE5C9C04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30910">
            <a:off x="9554488" y="-209522"/>
            <a:ext cx="3010053" cy="301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4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6A833151-7A92-6162-8800-0EA013ACE7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687" r="11044"/>
          <a:stretch>
            <a:fillRect/>
          </a:stretch>
        </p:blipFill>
        <p:spPr>
          <a:xfrm rot="16200000">
            <a:off x="2667000" y="-2667000"/>
            <a:ext cx="6857999" cy="12192000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60FD6ACF-FAFA-D448-2373-8AD96D4C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2453" y="1847915"/>
            <a:ext cx="4962161" cy="4726276"/>
          </a:xfrm>
        </p:spPr>
        <p:txBody>
          <a:bodyPr>
            <a:normAutofit/>
          </a:bodyPr>
          <a:lstStyle/>
          <a:p>
            <a:pPr algn="r"/>
            <a:r>
              <a:rPr lang="en-US" sz="8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Key objectives of the project:</a:t>
            </a:r>
            <a:endParaRPr lang="fi-FI" sz="8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lasassy Caps" pitchFamily="2" charset="0"/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4C6A107-BE88-114F-C37D-B69EB78C2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74" y="314632"/>
            <a:ext cx="6537960" cy="6228735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endParaRPr lang="fi-FI" sz="2000" b="0" i="0" u="none" strike="noStrike" dirty="0">
              <a:solidFill>
                <a:srgbClr val="FFFFFF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Addressing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long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waiting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times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Reduce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impact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of long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waiting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lists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for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health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by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providing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more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quickly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accessible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support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low-threshold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 The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aim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is to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ensure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can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access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some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level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support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when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needed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even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before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seeking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formal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health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/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Supporting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during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transitional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periods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Provide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particular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support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for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going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through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major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life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transitions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such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as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moving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from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comprehensive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school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upper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secondary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education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and help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prevent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social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exclusion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by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offering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direct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support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activities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opportunities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build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new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networks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/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Low-threshold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activities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Offer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easy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access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low-threshold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health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tools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activities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support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Oulu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region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/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Different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ways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support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health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Introduce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to a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variety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options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support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networks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can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promote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well-being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such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as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physical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activity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cultural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activities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body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care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These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can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serve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as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important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forms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support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alongside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formal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healthcare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/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Involving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businesses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youth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health</a:t>
            </a:r>
            <a:r>
              <a:rPr lang="fi-FI" sz="2000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Engage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businesses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Oulu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region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promoting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people’s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health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by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offering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opportunities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try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activities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support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their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sz="2000" dirty="0" err="1">
                <a:latin typeface="Poppins" panose="00000500000000000000" pitchFamily="2" charset="0"/>
                <a:cs typeface="Poppins" panose="00000500000000000000" pitchFamily="2" charset="0"/>
              </a:rPr>
              <a:t>well-being</a:t>
            </a:r>
            <a:r>
              <a:rPr lang="fi-FI" sz="20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FEC34647-1195-776A-36A3-A2C3DC788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71421">
            <a:off x="-428895" y="-204537"/>
            <a:ext cx="3273879" cy="327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299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6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orakulmio: Pyöristetyt kulmat 4">
            <a:extLst>
              <a:ext uri="{FF2B5EF4-FFF2-40B4-BE49-F238E27FC236}">
                <a16:creationId xmlns:a16="http://schemas.microsoft.com/office/drawing/2014/main" id="{C772FBD1-FEF2-4C51-5C45-88E544D0743E}"/>
              </a:ext>
            </a:extLst>
          </p:cNvPr>
          <p:cNvSpPr/>
          <p:nvPr/>
        </p:nvSpPr>
        <p:spPr>
          <a:xfrm rot="610150">
            <a:off x="6833072" y="110414"/>
            <a:ext cx="3490865" cy="648404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A5FEFE3E-89F3-AB20-285F-875C58EEF23B}"/>
              </a:ext>
            </a:extLst>
          </p:cNvPr>
          <p:cNvSpPr txBox="1"/>
          <p:nvPr/>
        </p:nvSpPr>
        <p:spPr>
          <a:xfrm>
            <a:off x="502920" y="485358"/>
            <a:ext cx="6217920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9900" b="1" dirty="0" err="1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  <a:cs typeface="Verdana" panose="020B0604030504040204" pitchFamily="34" charset="0"/>
              </a:rPr>
              <a:t>VIBe</a:t>
            </a:r>
            <a:r>
              <a:rPr lang="fi-FI" sz="16600" b="1" dirty="0" err="1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fi-FI" sz="199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</a:rPr>
              <a:t> </a:t>
            </a:r>
          </a:p>
          <a:p>
            <a:r>
              <a:rPr lang="fi-FI" sz="199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</a:rPr>
              <a:t>-</a:t>
            </a:r>
            <a:r>
              <a:rPr lang="fi-FI" sz="19900" b="1" dirty="0" err="1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</a:rPr>
              <a:t>pass</a:t>
            </a:r>
            <a:endParaRPr lang="fi-FI" sz="199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377346" dist="38100" dir="18900000" sx="114000" sy="114000" algn="bl" rotWithShape="0">
                  <a:prstClr val="black">
                    <a:alpha val="34000"/>
                  </a:prstClr>
                </a:outerShdw>
              </a:effectLst>
            </a:endParaRPr>
          </a:p>
        </p:txBody>
      </p:sp>
      <p:pic>
        <p:nvPicPr>
          <p:cNvPr id="2" name="Kuva 1">
            <a:extLst>
              <a:ext uri="{FF2B5EF4-FFF2-40B4-BE49-F238E27FC236}">
                <a16:creationId xmlns:a16="http://schemas.microsoft.com/office/drawing/2014/main" id="{89131FBE-B063-1CDF-1527-B49D69C86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49669">
            <a:off x="7265860" y="671598"/>
            <a:ext cx="2777684" cy="4900411"/>
          </a:xfrm>
          <a:prstGeom prst="rect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Ellipsi 5">
            <a:extLst>
              <a:ext uri="{FF2B5EF4-FFF2-40B4-BE49-F238E27FC236}">
                <a16:creationId xmlns:a16="http://schemas.microsoft.com/office/drawing/2014/main" id="{E1BCBF80-354D-E6C0-5837-864856CA6AFE}"/>
              </a:ext>
            </a:extLst>
          </p:cNvPr>
          <p:cNvSpPr/>
          <p:nvPr/>
        </p:nvSpPr>
        <p:spPr>
          <a:xfrm>
            <a:off x="7793574" y="5691836"/>
            <a:ext cx="610197" cy="621879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" name="Ellipsi 7">
            <a:extLst>
              <a:ext uri="{FF2B5EF4-FFF2-40B4-BE49-F238E27FC236}">
                <a16:creationId xmlns:a16="http://schemas.microsoft.com/office/drawing/2014/main" id="{469A2699-8CD0-160A-6602-AD1EA0BE658B}"/>
              </a:ext>
            </a:extLst>
          </p:cNvPr>
          <p:cNvSpPr/>
          <p:nvPr/>
        </p:nvSpPr>
        <p:spPr>
          <a:xfrm rot="592088">
            <a:off x="8683502" y="403380"/>
            <a:ext cx="968269" cy="4571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198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>
            <a:extLst>
              <a:ext uri="{FF2B5EF4-FFF2-40B4-BE49-F238E27FC236}">
                <a16:creationId xmlns:a16="http://schemas.microsoft.com/office/drawing/2014/main" id="{2C34C5C3-2DB6-33B3-B97E-28C177AAC6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0" y="-1"/>
            <a:ext cx="12191980" cy="6857999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B08A4A83-1F30-C495-B95F-6DBA05DE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31" y="271772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1E263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How the VIBEs Pass Works?</a:t>
            </a:r>
            <a:endParaRPr lang="fi-FI" sz="6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1E263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lasassy Caps" pitchFamily="2" charset="0"/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7C2F876-B34A-82AB-9037-2BF733772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331" y="1429460"/>
            <a:ext cx="10515600" cy="4933632"/>
          </a:xfrm>
          <a:solidFill>
            <a:srgbClr val="FFFFFF">
              <a:alpha val="60000"/>
            </a:srgbClr>
          </a:solidFill>
          <a:ln>
            <a:noFill/>
          </a:ln>
        </p:spPr>
        <p:txBody>
          <a:bodyPr>
            <a:normAutofit fontScale="92500" lnSpcReduction="20000"/>
          </a:bodyPr>
          <a:lstStyle/>
          <a:p>
            <a:pPr lvl="0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will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distributed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autumn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2026 to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all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9th-grade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students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first-year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students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at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pilot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schools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1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pilot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schools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are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Tuira School, Oulu International School, OSAO Kempele, and Oulun suomalaisen yhteiskoulun lukio.</a:t>
            </a:r>
            <a:endParaRPr lang="fi-FI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is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available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both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Finnish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and English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includes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unlimited-use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including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collection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sports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physical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activity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provided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by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City of Oulu),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special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offers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for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free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can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redeemed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using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code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fi-FI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Using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code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can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try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four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(4)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wellbeing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their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choice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provided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by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our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partner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organizations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free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charge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during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2026.</a:t>
            </a:r>
          </a:p>
          <a:p>
            <a:pPr lvl="0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offers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three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different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categories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Culture, Sports, and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Wellbeing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fi-FI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Kuva 5">
            <a:extLst>
              <a:ext uri="{FF2B5EF4-FFF2-40B4-BE49-F238E27FC236}">
                <a16:creationId xmlns:a16="http://schemas.microsoft.com/office/drawing/2014/main" id="{F6BD9615-B2B2-D470-7820-888E1CB64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7265">
            <a:off x="9786241" y="-218350"/>
            <a:ext cx="2709229" cy="27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04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6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iruutu 8">
            <a:extLst>
              <a:ext uri="{FF2B5EF4-FFF2-40B4-BE49-F238E27FC236}">
                <a16:creationId xmlns:a16="http://schemas.microsoft.com/office/drawing/2014/main" id="{FED959E7-8BCC-E122-8C5C-8066E2265E54}"/>
              </a:ext>
            </a:extLst>
          </p:cNvPr>
          <p:cNvSpPr txBox="1"/>
          <p:nvPr/>
        </p:nvSpPr>
        <p:spPr>
          <a:xfrm>
            <a:off x="509859" y="462697"/>
            <a:ext cx="31434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</a:rPr>
              <a:t>Passes distributed to young people</a:t>
            </a:r>
            <a:endParaRPr lang="fi-FI" sz="5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377346" dist="38100" dir="18900000" sx="114000" sy="114000" algn="bl" rotWithShape="0">
                  <a:prstClr val="black">
                    <a:alpha val="34000"/>
                  </a:prstClr>
                </a:outerShdw>
              </a:effectLst>
            </a:endParaRPr>
          </a:p>
        </p:txBody>
      </p:sp>
      <p:sp>
        <p:nvSpPr>
          <p:cNvPr id="10" name="Tekstiruutu 9">
            <a:extLst>
              <a:ext uri="{FF2B5EF4-FFF2-40B4-BE49-F238E27FC236}">
                <a16:creationId xmlns:a16="http://schemas.microsoft.com/office/drawing/2014/main" id="{C7EE2FD7-66CE-B5FD-274D-501A18CF557E}"/>
              </a:ext>
            </a:extLst>
          </p:cNvPr>
          <p:cNvSpPr txBox="1"/>
          <p:nvPr/>
        </p:nvSpPr>
        <p:spPr>
          <a:xfrm>
            <a:off x="334039" y="4234404"/>
            <a:ext cx="34950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Each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contains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personal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activates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pass.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Each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person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receives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one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unique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it is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their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responsibility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keep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it </a:t>
            </a:r>
            <a:r>
              <a:rPr lang="fi-FI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safe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4929B7F6-82BC-EBE9-0D96-8A1759CCC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90743">
            <a:off x="4194988" y="511490"/>
            <a:ext cx="3699593" cy="5232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7E10B70F-8412-C119-F6D8-AD2A5F441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66102">
            <a:off x="7878504" y="1035383"/>
            <a:ext cx="3411222" cy="4824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6932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F01D-AE6D-0F4B-518A-31D32A8C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uva 4">
            <a:extLst>
              <a:ext uri="{FF2B5EF4-FFF2-40B4-BE49-F238E27FC236}">
                <a16:creationId xmlns:a16="http://schemas.microsoft.com/office/drawing/2014/main" id="{3DE873A7-DF8E-E618-0787-1971BDBB1A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687" r="11044"/>
          <a:stretch>
            <a:fillRect/>
          </a:stretch>
        </p:blipFill>
        <p:spPr>
          <a:xfrm rot="16200000">
            <a:off x="2667001" y="-2667000"/>
            <a:ext cx="6857999" cy="12192000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D64888E-F99D-9422-0701-F0F61D25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0879" y="883920"/>
            <a:ext cx="9940249" cy="5531246"/>
          </a:xfrm>
          <a:solidFill>
            <a:srgbClr val="FFFFFF">
              <a:alpha val="60000"/>
            </a:srgbClr>
          </a:solidFill>
          <a:ln>
            <a:noFill/>
          </a:ln>
        </p:spPr>
        <p:txBody>
          <a:bodyPr>
            <a:normAutofit lnSpcReduction="10000"/>
          </a:bodyPr>
          <a:lstStyle/>
          <a:p>
            <a:pPr lvl="0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is personal,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but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some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may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used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together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friend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depending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on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agreements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made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participating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businesses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passes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and personal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codes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will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distributed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during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student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guidance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sessions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at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beginning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autumn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2026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Materials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instructions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for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activating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using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will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provided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schools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’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designated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contact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persons.</a:t>
            </a:r>
          </a:p>
          <a:p>
            <a:pPr lvl="1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does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not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collect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personal data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or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maintain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register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its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users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/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At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beginning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of 2027,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use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will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analyzed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aim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expanding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service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include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more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service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providers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as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well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as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more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latin typeface="Poppins" panose="00000500000000000000" pitchFamily="2" charset="0"/>
                <a:cs typeface="Poppins" panose="00000500000000000000" pitchFamily="2" charset="0"/>
              </a:rPr>
              <a:t>people</a:t>
            </a:r>
            <a:r>
              <a:rPr lang="fi-FI" b="1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fi-FI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Kuva 6">
            <a:extLst>
              <a:ext uri="{FF2B5EF4-FFF2-40B4-BE49-F238E27FC236}">
                <a16:creationId xmlns:a16="http://schemas.microsoft.com/office/drawing/2014/main" id="{3162CA48-BF14-EFF1-B656-E15344EF6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71421">
            <a:off x="-453385" y="15924"/>
            <a:ext cx="3131641" cy="313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24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B59F9-0E1D-F496-B033-911620DD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uva 5">
            <a:extLst>
              <a:ext uri="{FF2B5EF4-FFF2-40B4-BE49-F238E27FC236}">
                <a16:creationId xmlns:a16="http://schemas.microsoft.com/office/drawing/2014/main" id="{02AAF97C-C0EE-0DC9-6D7D-9731968316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687" r="11044"/>
          <a:stretch>
            <a:fillRect/>
          </a:stretch>
        </p:blipFill>
        <p:spPr>
          <a:xfrm rot="16200000">
            <a:off x="2667000" y="-2667000"/>
            <a:ext cx="6857999" cy="12192000"/>
          </a:xfrm>
          <a:prstGeom prst="rect">
            <a:avLst/>
          </a:prstGeom>
        </p:spPr>
      </p:pic>
      <p:sp>
        <p:nvSpPr>
          <p:cNvPr id="8" name="Otsikko 1">
            <a:extLst>
              <a:ext uri="{FF2B5EF4-FFF2-40B4-BE49-F238E27FC236}">
                <a16:creationId xmlns:a16="http://schemas.microsoft.com/office/drawing/2014/main" id="{FA4326DC-FBEE-A1E3-D22C-26F792259525}"/>
              </a:ext>
            </a:extLst>
          </p:cNvPr>
          <p:cNvSpPr txBox="1">
            <a:spLocks/>
          </p:cNvSpPr>
          <p:nvPr/>
        </p:nvSpPr>
        <p:spPr>
          <a:xfrm>
            <a:off x="2865612" y="1424038"/>
            <a:ext cx="81189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asassy Caps" pitchFamily="2" charset="0"/>
              </a:rPr>
              <a:t>You can try out the demo version of pass at:</a:t>
            </a:r>
            <a:endParaRPr lang="fi-FI" sz="6000" dirty="0"/>
          </a:p>
        </p:txBody>
      </p:sp>
      <p:sp>
        <p:nvSpPr>
          <p:cNvPr id="9" name="Sisällön paikkamerkki 2">
            <a:extLst>
              <a:ext uri="{FF2B5EF4-FFF2-40B4-BE49-F238E27FC236}">
                <a16:creationId xmlns:a16="http://schemas.microsoft.com/office/drawing/2014/main" id="{16728797-53FA-4856-6DDD-AD99C1B76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386" y="3024833"/>
            <a:ext cx="7578213" cy="2500569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fi-FI" sz="6000" dirty="0">
                <a:solidFill>
                  <a:srgbClr val="E57FD6"/>
                </a:solidFill>
                <a:latin typeface="Poppins" panose="00000500000000000000" pitchFamily="2" charset="0"/>
                <a:cs typeface="Poppins" panose="000005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https://passi.stag.allvibes.fi/</a:t>
            </a:r>
            <a:r>
              <a:rPr lang="fi-FI" sz="6000" dirty="0">
                <a:solidFill>
                  <a:srgbClr val="E57FD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</p:txBody>
      </p:sp>
      <p:pic>
        <p:nvPicPr>
          <p:cNvPr id="13" name="Kuva 12">
            <a:extLst>
              <a:ext uri="{FF2B5EF4-FFF2-40B4-BE49-F238E27FC236}">
                <a16:creationId xmlns:a16="http://schemas.microsoft.com/office/drawing/2014/main" id="{78811DCC-3BBF-0933-B7E3-E54C3F8FB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56394">
            <a:off x="188078" y="3324956"/>
            <a:ext cx="3125075" cy="312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1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6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 descr="Pakotalo">
            <a:extLst>
              <a:ext uri="{FF2B5EF4-FFF2-40B4-BE49-F238E27FC236}">
                <a16:creationId xmlns:a16="http://schemas.microsoft.com/office/drawing/2014/main" id="{CF229F43-479C-D9B7-1CC5-5864F1012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811" y="1954311"/>
            <a:ext cx="2540579" cy="1282992"/>
          </a:xfrm>
          <a:prstGeom prst="rect">
            <a:avLst/>
          </a:prstGeom>
        </p:spPr>
      </p:pic>
      <p:pic>
        <p:nvPicPr>
          <p:cNvPr id="5" name="Kuva 4">
            <a:extLst>
              <a:ext uri="{FF2B5EF4-FFF2-40B4-BE49-F238E27FC236}">
                <a16:creationId xmlns:a16="http://schemas.microsoft.com/office/drawing/2014/main" id="{D37CBB79-9E9E-3640-0E42-0B993C0F0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99" y="2848441"/>
            <a:ext cx="1556060" cy="1556060"/>
          </a:xfrm>
          <a:prstGeom prst="rect">
            <a:avLst/>
          </a:prstGeom>
        </p:spPr>
      </p:pic>
      <p:pic>
        <p:nvPicPr>
          <p:cNvPr id="7" name="Kuva 6" descr="Joogastudio Tyyni">
            <a:extLst>
              <a:ext uri="{FF2B5EF4-FFF2-40B4-BE49-F238E27FC236}">
                <a16:creationId xmlns:a16="http://schemas.microsoft.com/office/drawing/2014/main" id="{4C9A878B-9503-7A7A-C1B5-8148F9533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970" y="4382916"/>
            <a:ext cx="1643855" cy="1643855"/>
          </a:xfrm>
          <a:prstGeom prst="rect">
            <a:avLst/>
          </a:prstGeom>
        </p:spPr>
      </p:pic>
      <p:pic>
        <p:nvPicPr>
          <p:cNvPr id="9" name="Kuva 8" descr="Pelibunkkeri">
            <a:extLst>
              <a:ext uri="{FF2B5EF4-FFF2-40B4-BE49-F238E27FC236}">
                <a16:creationId xmlns:a16="http://schemas.microsoft.com/office/drawing/2014/main" id="{C1EB8E77-D93B-00DC-1A3A-E656B8D4C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022" y="1276485"/>
            <a:ext cx="2540579" cy="330275"/>
          </a:xfrm>
          <a:prstGeom prst="rect">
            <a:avLst/>
          </a:prstGeom>
        </p:spPr>
      </p:pic>
      <p:pic>
        <p:nvPicPr>
          <p:cNvPr id="11" name="Kuva 10" descr="Kärpät">
            <a:extLst>
              <a:ext uri="{FF2B5EF4-FFF2-40B4-BE49-F238E27FC236}">
                <a16:creationId xmlns:a16="http://schemas.microsoft.com/office/drawing/2014/main" id="{E2207741-D414-9C0E-3A23-9805144B1C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2516" y="3474059"/>
            <a:ext cx="2321415" cy="1489515"/>
          </a:xfrm>
          <a:prstGeom prst="rect">
            <a:avLst/>
          </a:prstGeom>
        </p:spPr>
      </p:pic>
      <p:pic>
        <p:nvPicPr>
          <p:cNvPr id="13" name="Kuva 12" descr="Merkkilabra">
            <a:extLst>
              <a:ext uri="{FF2B5EF4-FFF2-40B4-BE49-F238E27FC236}">
                <a16:creationId xmlns:a16="http://schemas.microsoft.com/office/drawing/2014/main" id="{785647BF-E0EF-334D-8C41-A81EF58C8D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4741" y="1669470"/>
            <a:ext cx="2540579" cy="673253"/>
          </a:xfrm>
          <a:prstGeom prst="rect">
            <a:avLst/>
          </a:prstGeom>
        </p:spPr>
      </p:pic>
      <p:pic>
        <p:nvPicPr>
          <p:cNvPr id="15" name="Kuva 14" descr="Kaleva">
            <a:extLst>
              <a:ext uri="{FF2B5EF4-FFF2-40B4-BE49-F238E27FC236}">
                <a16:creationId xmlns:a16="http://schemas.microsoft.com/office/drawing/2014/main" id="{91158A79-E755-53DA-7CB0-D81BC5E872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827" y="469462"/>
            <a:ext cx="2540579" cy="482710"/>
          </a:xfrm>
          <a:prstGeom prst="rect">
            <a:avLst/>
          </a:prstGeom>
        </p:spPr>
      </p:pic>
      <p:pic>
        <p:nvPicPr>
          <p:cNvPr id="17" name="Kuva 16" descr="Bo LKV">
            <a:extLst>
              <a:ext uri="{FF2B5EF4-FFF2-40B4-BE49-F238E27FC236}">
                <a16:creationId xmlns:a16="http://schemas.microsoft.com/office/drawing/2014/main" id="{A0D578D9-1E47-1007-5F25-E476DE9C5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61861" y="2515085"/>
            <a:ext cx="914730" cy="1053326"/>
          </a:xfrm>
          <a:prstGeom prst="rect">
            <a:avLst/>
          </a:prstGeom>
        </p:spPr>
      </p:pic>
      <p:pic>
        <p:nvPicPr>
          <p:cNvPr id="19" name="Kuva 18" descr="Rela-hierojat">
            <a:extLst>
              <a:ext uri="{FF2B5EF4-FFF2-40B4-BE49-F238E27FC236}">
                <a16:creationId xmlns:a16="http://schemas.microsoft.com/office/drawing/2014/main" id="{17EDBADC-233F-267D-CDA3-641EF0F189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3955" y="1699164"/>
            <a:ext cx="2903822" cy="703957"/>
          </a:xfrm>
          <a:prstGeom prst="rect">
            <a:avLst/>
          </a:prstGeom>
        </p:spPr>
      </p:pic>
      <p:pic>
        <p:nvPicPr>
          <p:cNvPr id="21" name="Kuva 20">
            <a:extLst>
              <a:ext uri="{FF2B5EF4-FFF2-40B4-BE49-F238E27FC236}">
                <a16:creationId xmlns:a16="http://schemas.microsoft.com/office/drawing/2014/main" id="{71BFD799-5FD9-0F6F-225A-6D2B2A45A5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9226" y="3626471"/>
            <a:ext cx="1459051" cy="1925947"/>
          </a:xfrm>
          <a:prstGeom prst="rect">
            <a:avLst/>
          </a:prstGeom>
        </p:spPr>
      </p:pic>
      <p:pic>
        <p:nvPicPr>
          <p:cNvPr id="23" name="Kuva 22" descr="Painomiehet">
            <a:extLst>
              <a:ext uri="{FF2B5EF4-FFF2-40B4-BE49-F238E27FC236}">
                <a16:creationId xmlns:a16="http://schemas.microsoft.com/office/drawing/2014/main" id="{3BA85325-6F47-6BB5-2F8C-D5A217F66B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35118" y="364435"/>
            <a:ext cx="1452471" cy="1445208"/>
          </a:xfrm>
          <a:prstGeom prst="rect">
            <a:avLst/>
          </a:prstGeom>
        </p:spPr>
      </p:pic>
      <p:pic>
        <p:nvPicPr>
          <p:cNvPr id="25" name="Kuva 24" descr="NUVOO.com">
            <a:extLst>
              <a:ext uri="{FF2B5EF4-FFF2-40B4-BE49-F238E27FC236}">
                <a16:creationId xmlns:a16="http://schemas.microsoft.com/office/drawing/2014/main" id="{807F7C2C-56BE-A978-2FF1-79D76377D0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7698" y="5828197"/>
            <a:ext cx="2540579" cy="609739"/>
          </a:xfrm>
          <a:prstGeom prst="rect">
            <a:avLst/>
          </a:prstGeom>
        </p:spPr>
      </p:pic>
      <p:pic>
        <p:nvPicPr>
          <p:cNvPr id="27" name="Kuva 26" descr="MPS">
            <a:extLst>
              <a:ext uri="{FF2B5EF4-FFF2-40B4-BE49-F238E27FC236}">
                <a16:creationId xmlns:a16="http://schemas.microsoft.com/office/drawing/2014/main" id="{C6799839-F87F-EE39-32B4-5E12D51ED2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8833" y="4949800"/>
            <a:ext cx="1710631" cy="1445483"/>
          </a:xfrm>
          <a:prstGeom prst="rect">
            <a:avLst/>
          </a:prstGeom>
        </p:spPr>
      </p:pic>
      <p:pic>
        <p:nvPicPr>
          <p:cNvPr id="29" name="Kuva 28" descr="Vuolle Poikien Talo">
            <a:extLst>
              <a:ext uri="{FF2B5EF4-FFF2-40B4-BE49-F238E27FC236}">
                <a16:creationId xmlns:a16="http://schemas.microsoft.com/office/drawing/2014/main" id="{13D68812-F48E-8D3C-7D9B-CB567B03475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63397" y="403001"/>
            <a:ext cx="1904618" cy="885647"/>
          </a:xfrm>
          <a:prstGeom prst="rect">
            <a:avLst/>
          </a:prstGeom>
        </p:spPr>
      </p:pic>
      <p:pic>
        <p:nvPicPr>
          <p:cNvPr id="31" name="Kuva 30" descr="Vuolle Tyttöjen Talo">
            <a:extLst>
              <a:ext uri="{FF2B5EF4-FFF2-40B4-BE49-F238E27FC236}">
                <a16:creationId xmlns:a16="http://schemas.microsoft.com/office/drawing/2014/main" id="{A9B37121-6084-D42E-8EA0-BF04F8633B2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93213" y="2848441"/>
            <a:ext cx="1926037" cy="895607"/>
          </a:xfrm>
          <a:prstGeom prst="rect">
            <a:avLst/>
          </a:prstGeom>
        </p:spPr>
      </p:pic>
      <p:pic>
        <p:nvPicPr>
          <p:cNvPr id="33" name="Kuva 32" descr="Business Asema">
            <a:extLst>
              <a:ext uri="{FF2B5EF4-FFF2-40B4-BE49-F238E27FC236}">
                <a16:creationId xmlns:a16="http://schemas.microsoft.com/office/drawing/2014/main" id="{302D9820-576C-16A1-B118-96CED7D44EB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21703" y="5634067"/>
            <a:ext cx="2540579" cy="1041637"/>
          </a:xfrm>
          <a:prstGeom prst="rect">
            <a:avLst/>
          </a:prstGeom>
        </p:spPr>
      </p:pic>
      <p:pic>
        <p:nvPicPr>
          <p:cNvPr id="35" name="Kuva 34" descr="Oppi-Paletti">
            <a:extLst>
              <a:ext uri="{FF2B5EF4-FFF2-40B4-BE49-F238E27FC236}">
                <a16:creationId xmlns:a16="http://schemas.microsoft.com/office/drawing/2014/main" id="{21E66104-18E0-4995-C37F-0D78DE2993F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35118" y="3649398"/>
            <a:ext cx="1630289" cy="1027082"/>
          </a:xfrm>
          <a:prstGeom prst="rect">
            <a:avLst/>
          </a:prstGeom>
        </p:spPr>
      </p:pic>
      <p:pic>
        <p:nvPicPr>
          <p:cNvPr id="37" name="Kuva 36" descr="Oulu Pride">
            <a:extLst>
              <a:ext uri="{FF2B5EF4-FFF2-40B4-BE49-F238E27FC236}">
                <a16:creationId xmlns:a16="http://schemas.microsoft.com/office/drawing/2014/main" id="{15B209D9-B3E3-906F-0D41-6531FAFB217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761" y="4382916"/>
            <a:ext cx="1533364" cy="2177377"/>
          </a:xfrm>
          <a:prstGeom prst="rect">
            <a:avLst/>
          </a:prstGeom>
        </p:spPr>
      </p:pic>
      <p:pic>
        <p:nvPicPr>
          <p:cNvPr id="39" name="Kuva 38" descr="4H Oulu">
            <a:extLst>
              <a:ext uri="{FF2B5EF4-FFF2-40B4-BE49-F238E27FC236}">
                <a16:creationId xmlns:a16="http://schemas.microsoft.com/office/drawing/2014/main" id="{5DC29833-6406-A546-9A85-7CD8DF625FA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21079" y="260012"/>
            <a:ext cx="1964055" cy="530295"/>
          </a:xfrm>
          <a:prstGeom prst="rect">
            <a:avLst/>
          </a:prstGeom>
        </p:spPr>
      </p:pic>
      <p:pic>
        <p:nvPicPr>
          <p:cNvPr id="41" name="Kuva 40" descr="KIF Design">
            <a:extLst>
              <a:ext uri="{FF2B5EF4-FFF2-40B4-BE49-F238E27FC236}">
                <a16:creationId xmlns:a16="http://schemas.microsoft.com/office/drawing/2014/main" id="{16605D4F-C319-CDDB-1B93-8A2754E74E7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40521" y="1699753"/>
            <a:ext cx="2540579" cy="685956"/>
          </a:xfrm>
          <a:prstGeom prst="rect">
            <a:avLst/>
          </a:prstGeom>
        </p:spPr>
      </p:pic>
      <p:pic>
        <p:nvPicPr>
          <p:cNvPr id="43" name="Kuva 42" descr="ODL">
            <a:extLst>
              <a:ext uri="{FF2B5EF4-FFF2-40B4-BE49-F238E27FC236}">
                <a16:creationId xmlns:a16="http://schemas.microsoft.com/office/drawing/2014/main" id="{36F8BC7F-0F1D-0A43-D924-95A27F6D62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72591" y="5544193"/>
            <a:ext cx="2110252" cy="812447"/>
          </a:xfrm>
          <a:prstGeom prst="rect">
            <a:avLst/>
          </a:prstGeom>
        </p:spPr>
      </p:pic>
      <p:pic>
        <p:nvPicPr>
          <p:cNvPr id="45" name="Kuva 44" descr="Nuorten Ystävät">
            <a:extLst>
              <a:ext uri="{FF2B5EF4-FFF2-40B4-BE49-F238E27FC236}">
                <a16:creationId xmlns:a16="http://schemas.microsoft.com/office/drawing/2014/main" id="{0699DBC5-6B50-D665-2516-796BEC9250A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94242" y="2506014"/>
            <a:ext cx="1272148" cy="1246705"/>
          </a:xfrm>
          <a:prstGeom prst="rect">
            <a:avLst/>
          </a:prstGeom>
        </p:spPr>
      </p:pic>
      <p:pic>
        <p:nvPicPr>
          <p:cNvPr id="47" name="Kuva 46" descr="Hellon">
            <a:extLst>
              <a:ext uri="{FF2B5EF4-FFF2-40B4-BE49-F238E27FC236}">
                <a16:creationId xmlns:a16="http://schemas.microsoft.com/office/drawing/2014/main" id="{4A69E8B1-645E-8B68-47E0-335378E286B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31634" y="3110182"/>
            <a:ext cx="1842757" cy="838454"/>
          </a:xfrm>
          <a:prstGeom prst="rect">
            <a:avLst/>
          </a:prstGeom>
        </p:spPr>
      </p:pic>
      <p:pic>
        <p:nvPicPr>
          <p:cNvPr id="49" name="Kuva 48" descr="Premium Some">
            <a:extLst>
              <a:ext uri="{FF2B5EF4-FFF2-40B4-BE49-F238E27FC236}">
                <a16:creationId xmlns:a16="http://schemas.microsoft.com/office/drawing/2014/main" id="{47FFA033-1436-03E8-61DB-269007A4AAD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266390" y="1776133"/>
            <a:ext cx="1528553" cy="1528553"/>
          </a:xfrm>
          <a:prstGeom prst="rect">
            <a:avLst/>
          </a:prstGeom>
        </p:spPr>
      </p:pic>
      <p:pic>
        <p:nvPicPr>
          <p:cNvPr id="51" name="Kuva 50">
            <a:extLst>
              <a:ext uri="{FF2B5EF4-FFF2-40B4-BE49-F238E27FC236}">
                <a16:creationId xmlns:a16="http://schemas.microsoft.com/office/drawing/2014/main" id="{9DBDF30E-5BBE-3195-059D-DAEC05ECB3A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69885" y="4041962"/>
            <a:ext cx="1665990" cy="1330258"/>
          </a:xfrm>
          <a:prstGeom prst="rect">
            <a:avLst/>
          </a:prstGeom>
        </p:spPr>
      </p:pic>
      <p:pic>
        <p:nvPicPr>
          <p:cNvPr id="52" name="Kuva 51" descr="Oulu">
            <a:extLst>
              <a:ext uri="{FF2B5EF4-FFF2-40B4-BE49-F238E27FC236}">
                <a16:creationId xmlns:a16="http://schemas.microsoft.com/office/drawing/2014/main" id="{AB7C1D13-5331-F457-A7FB-26658F26132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7844" y="72130"/>
            <a:ext cx="1148370" cy="137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90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C8A2E-FA5C-E7A5-3932-B049739B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707D7C1-1BF3-52DA-ABF5-6C9AC1378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Kuva 5">
            <a:extLst>
              <a:ext uri="{FF2B5EF4-FFF2-40B4-BE49-F238E27FC236}">
                <a16:creationId xmlns:a16="http://schemas.microsoft.com/office/drawing/2014/main" id="{11A9AC5D-A717-9A87-21E8-1F74C31D45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5C964015-C0E5-721F-AB03-713F3644E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0" y="716792"/>
            <a:ext cx="9144000" cy="2900518"/>
          </a:xfrm>
        </p:spPr>
        <p:txBody>
          <a:bodyPr>
            <a:normAutofit/>
          </a:bodyPr>
          <a:lstStyle/>
          <a:p>
            <a:br>
              <a:rPr lang="fi-FI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</a:br>
            <a:r>
              <a:rPr lang="fi-FI" sz="7200" dirty="0" err="1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Coming</a:t>
            </a:r>
            <a:r>
              <a:rPr lang="fi-FI" sz="7200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 </a:t>
            </a:r>
            <a:r>
              <a:rPr lang="fi-FI" sz="7200" dirty="0" err="1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soon</a:t>
            </a:r>
            <a:r>
              <a:rPr lang="fi-FI" sz="7200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: ALL VIBES OK –PODCAST @ </a:t>
            </a:r>
            <a:r>
              <a:rPr lang="fi-FI" sz="7200" dirty="0" err="1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Alasassy Caps" pitchFamily="2" charset="0"/>
                <a:cs typeface="Alasassy Caps" panose="020F0502020204030204" pitchFamily="34" charset="0"/>
              </a:rPr>
              <a:t>sPOTIFY</a:t>
            </a:r>
            <a:endParaRPr lang="fi-FI" b="1" dirty="0">
              <a:ln w="22225">
                <a:solidFill>
                  <a:schemeClr val="tx1"/>
                </a:solidFill>
                <a:miter lim="800000"/>
              </a:ln>
              <a:solidFill>
                <a:srgbClr val="FFFFFF"/>
              </a:solidFill>
              <a:latin typeface="Alasassy Caps" pitchFamily="2" charset="0"/>
              <a:cs typeface="Alasassy Caps" panose="020F0502020204030204" pitchFamily="34" charset="0"/>
            </a:endParaRP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AF3E8403-BDC4-D3C4-32DB-5BE821CBD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0" y="3784903"/>
            <a:ext cx="9144000" cy="1098395"/>
          </a:xfrm>
        </p:spPr>
        <p:txBody>
          <a:bodyPr>
            <a:noAutofit/>
          </a:bodyPr>
          <a:lstStyle/>
          <a:p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All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Ok is a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youth-focused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podcast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about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mental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health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real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-life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struggles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identity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relationships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finding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your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own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way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in life —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honesty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humor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reminder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not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every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vibe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has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good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one</a:t>
            </a:r>
            <a:r>
              <a:rPr lang="fi-FI" dirty="0"/>
              <a:t>.</a:t>
            </a:r>
          </a:p>
          <a:p>
            <a:endParaRPr lang="fi-FI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HOSTED BY TYTTILOTTA AALLOSTO</a:t>
            </a:r>
          </a:p>
        </p:txBody>
      </p:sp>
    </p:spTree>
    <p:extLst>
      <p:ext uri="{BB962C8B-B14F-4D97-AF65-F5344CB8AC3E}">
        <p14:creationId xmlns:p14="http://schemas.microsoft.com/office/powerpoint/2010/main" val="2326560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6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uva 6">
            <a:extLst>
              <a:ext uri="{FF2B5EF4-FFF2-40B4-BE49-F238E27FC236}">
                <a16:creationId xmlns:a16="http://schemas.microsoft.com/office/drawing/2014/main" id="{B39828F7-9192-4D95-5531-52543A630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19" y="217449"/>
            <a:ext cx="5138482" cy="6423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kstiruutu 8">
            <a:extLst>
              <a:ext uri="{FF2B5EF4-FFF2-40B4-BE49-F238E27FC236}">
                <a16:creationId xmlns:a16="http://schemas.microsoft.com/office/drawing/2014/main" id="{3F7FE9E5-0783-1961-1BF5-4E6CCB3FA8D9}"/>
              </a:ext>
            </a:extLst>
          </p:cNvPr>
          <p:cNvSpPr txBox="1"/>
          <p:nvPr/>
        </p:nvSpPr>
        <p:spPr>
          <a:xfrm>
            <a:off x="6096000" y="3429000"/>
            <a:ext cx="50005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Fundraising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organizer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Oulun Tervaporvarien Nuorkauppakamari ry</a:t>
            </a:r>
          </a:p>
          <a:p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Contact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information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vibes@jciouluntervaporvarit.fi</a:t>
            </a:r>
            <a:endParaRPr lang="fi-FI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Small-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scale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fundraising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permit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number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RA/2026/897</a:t>
            </a:r>
          </a:p>
          <a:p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Bank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account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FI88 5741 4020 2049 34</a:t>
            </a:r>
          </a:p>
          <a:p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MobilePay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number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42752</a:t>
            </a:r>
          </a:p>
          <a:p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Fundraising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period</a:t>
            </a:r>
            <a:r>
              <a:rPr lang="fi-FI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lang="fi-FI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1 August – 31 October 2026</a:t>
            </a:r>
          </a:p>
          <a:p>
            <a:endParaRPr lang="fi-FI" dirty="0"/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E017DF85-18C8-9C54-D590-EC6EA03C756C}"/>
              </a:ext>
            </a:extLst>
          </p:cNvPr>
          <p:cNvSpPr txBox="1"/>
          <p:nvPr/>
        </p:nvSpPr>
        <p:spPr>
          <a:xfrm>
            <a:off x="6004560" y="462697"/>
            <a:ext cx="500050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</a:rPr>
              <a:t>Through a fundraising, private individuals can also help support </a:t>
            </a:r>
            <a:r>
              <a:rPr lang="en-US" sz="4400" b="1" dirty="0" err="1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</a:rPr>
              <a:t>VIBEs’</a:t>
            </a:r>
            <a:r>
              <a:rPr lang="en-US" sz="44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377346" dist="38100" dir="18900000" sx="114000" sy="114000" algn="bl" rotWithShape="0">
                    <a:prstClr val="black">
                      <a:alpha val="34000"/>
                    </a:prstClr>
                  </a:outerShdw>
                </a:effectLst>
                <a:latin typeface="Alasassy Caps" pitchFamily="2" charset="0"/>
                <a:ea typeface="Verdana" panose="020B0604030504040204" pitchFamily="34" charset="0"/>
              </a:rPr>
              <a:t> activities.</a:t>
            </a:r>
            <a:endParaRPr lang="fi-FI" sz="4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377346" dist="38100" dir="18900000" sx="114000" sy="114000" algn="bl" rotWithShape="0">
                  <a:prstClr val="black">
                    <a:alpha val="34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7901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6C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5434948-8FCB-AA09-F541-16C437D09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Important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 info for </a:t>
            </a:r>
            <a:r>
              <a:rPr lang="fi-FI" dirty="0" err="1">
                <a:latin typeface="Poppins" panose="00000500000000000000" pitchFamily="2" charset="0"/>
                <a:cs typeface="Poppins" panose="00000500000000000000" pitchFamily="2" charset="0"/>
              </a:rPr>
              <a:t>schools</a:t>
            </a:r>
            <a:r>
              <a:rPr lang="fi-FI" dirty="0">
                <a:latin typeface="Poppins" panose="00000500000000000000" pitchFamily="2" charset="0"/>
                <a:cs typeface="Poppins" panose="00000500000000000000" pitchFamily="2" charset="0"/>
              </a:rPr>
              <a:t>!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13EBBF9-C0B8-7566-5C23-AA1B83E3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Please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distribute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Each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coded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personal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assigned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individual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need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collect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list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unless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wish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keep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track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which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have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received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pass.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However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list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must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shared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staff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for data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protection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reasons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Please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emphasize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that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will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need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their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personal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every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time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they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log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to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new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cannot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issued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should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keep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their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safe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for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by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saving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it on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their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phone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responsible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if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code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falls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into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wrong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hands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fi-FI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spring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2027,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VIBEs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will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provide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schools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survey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about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young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people’s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experiences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using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b="1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pass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kindly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ask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survey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through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communication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channel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alternatively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have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students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complete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survey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during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fi-FI" dirty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lesson</a:t>
            </a:r>
            <a:r>
              <a:rPr lang="fi-FI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endParaRPr lang="fi-FI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727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-te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-te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BF4D5538B0FEAC4BA0DBC43623EC387F" ma:contentTypeVersion="4" ma:contentTypeDescription="Luo uusi asiakirja." ma:contentTypeScope="" ma:versionID="7ee6c0b3967806bea1bb1f077c836a03">
  <xsd:schema xmlns:xsd="http://www.w3.org/2001/XMLSchema" xmlns:xs="http://www.w3.org/2001/XMLSchema" xmlns:p="http://schemas.microsoft.com/office/2006/metadata/properties" xmlns:ns2="367b7fb1-f783-4b35-8c0c-64a4810c89c9" targetNamespace="http://schemas.microsoft.com/office/2006/metadata/properties" ma:root="true" ma:fieldsID="68ac285f2c6d7e0969c9ead1c692f1f5" ns2:_="">
    <xsd:import namespace="367b7fb1-f783-4b35-8c0c-64a4810c89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7b7fb1-f783-4b35-8c0c-64a4810c89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717FB6-A4F6-4F74-807B-3191543A3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7b7fb1-f783-4b35-8c0c-64a4810c89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3D618F-6D4B-48F1-B9D0-52EDAAD0D60F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367b7fb1-f783-4b35-8c0c-64a4810c89c9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20E8C38-DCD7-401E-975E-85430573FD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34341</TotalTime>
  <Words>992</Words>
  <Application>Microsoft Office PowerPoint</Application>
  <PresentationFormat>Laajakuva</PresentationFormat>
  <Paragraphs>48</Paragraphs>
  <Slides>12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5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12</vt:i4>
      </vt:variant>
    </vt:vector>
  </HeadingPairs>
  <TitlesOfParts>
    <vt:vector size="18" baseType="lpstr">
      <vt:lpstr>Alasassy Caps</vt:lpstr>
      <vt:lpstr>Aptos</vt:lpstr>
      <vt:lpstr>Aptos Display</vt:lpstr>
      <vt:lpstr>Arial</vt:lpstr>
      <vt:lpstr>Poppins</vt:lpstr>
      <vt:lpstr>Office-teema</vt:lpstr>
      <vt:lpstr> VIBes –project </vt:lpstr>
      <vt:lpstr>PowerPoint-esitys</vt:lpstr>
      <vt:lpstr>Key objectives of the project:</vt:lpstr>
      <vt:lpstr>PowerPoint-esitys</vt:lpstr>
      <vt:lpstr>How the VIBEs Pass Works?</vt:lpstr>
      <vt:lpstr>PowerPoint-esitys</vt:lpstr>
      <vt:lpstr>PowerPoint-esitys</vt:lpstr>
      <vt:lpstr>PowerPoint-esitys</vt:lpstr>
      <vt:lpstr>PowerPoint-esitys</vt:lpstr>
      <vt:lpstr> Coming soon: ALL VIBES OK –PODCAST @ sPOTIFY</vt:lpstr>
      <vt:lpstr>PowerPoint-esitys</vt:lpstr>
      <vt:lpstr>Important info for schools!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Tyttilotta Karjalainen</dc:creator>
  <cp:lastModifiedBy>Aallosto Tyttilotta</cp:lastModifiedBy>
  <cp:revision>16</cp:revision>
  <dcterms:created xsi:type="dcterms:W3CDTF">2025-05-05T22:03:44Z</dcterms:created>
  <dcterms:modified xsi:type="dcterms:W3CDTF">2026-08-24T12:11:21Z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0x010100BF4D5538B0FEAC4BA0DBC43623EC387F</vt:lpwstr>
  </property>
</Properties>
</file>